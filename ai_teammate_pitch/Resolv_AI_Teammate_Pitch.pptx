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 is our working name for an AI teammate for e-commerce customer service, starting with damaged or missing items. The right-hand panel is an illustrative concept of one case, not a screenshot. Team name, team ID and members are placeholders.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workflow left to right, then each pain point and what it costs. These are hypotheses for our chosen segment; we cite no industry statistics because we have not verified any. The insight on the right sets up the solution: completing and checking the next action, with a person involved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receive, retrieve order/ticket/policy context, choose an action (LLM proposes, rules constrain), policy check, act through an allow-listed tool, verify an explicit postcondition, resolve. Anything needing approval, or failing after one idempotent retry, goes to a human, who can approve (back to 'act') or take over. Learning is offline: human decisions and verified outcomes become test cases. The example is illustrative, not a measured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only proposes a structured action; the policy gate (deterministic rules, limits, roles) decides whether it runs, may route it to the agent console for approval, and only allow-listed connectors can act. Store/helpdesk APIs are mocked in the MVP. Status labels reflect the plan; no component is implemented yet. Logos are Simple Icons brand marks. Sources: ReAct https://react-lm.github.io (arXiv:2210.03629); Toolformer https://arxiv.org/abs/2302.04761.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Benefits are expected effects tied to specific capabilities, not measured results. There is no baseline or pilot data yet. When results exist, report the sample size and test conditions alongside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is a hypothesis to test in the pilot; no price points are claimed. The per-verified-resolution fee ties revenue to the outcome the problem statement asks for. Phases are sized for a small team: MVP during the hackathon on mocked APIs, then a pilot with one brand, then production hardening and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4F7F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10820095" cy="685800"/>
          </a:xfrm>
          <a:prstGeom prst="rect">
            <a:avLst/>
          </a:prstGeom>
          <a:noFill/>
          <a:ln/>
        </p:spPr>
        <p:txBody>
          <a:bodyPr wrap="square" rtlCol="0"/>
          <a:lstStyle>
            <a:lvl1pPr algn="l" indent="0" marL="0">
              <a:buNone/>
              <a:defRPr lang="en-US" sz="3200" b="1" dirty="0">
                <a:solidFill>
                  <a:srgbClr val="0B1220"/>
                </a:solidFill>
                <a:latin typeface="Calibri" pitchFamily="34" charset="0"/>
                <a:ea typeface="Calibri" pitchFamily="34" charset="-122"/>
                <a:cs typeface="Calibri" pitchFamily="34" charset="-120"/>
              </a:defRPr>
            </a:lvl1pPr>
          </a:lstStyle>
          <a:p>
            <a:pPr algn="l" indent="0" marL="0">
              <a:buNone/>
            </a:pPr>
            <a:endParaRPr lang="en-US" sz="3200" dirty="0"/>
          </a:p>
        </p:txBody>
      </p:sp>
      <p:sp>
        <p:nvSpPr>
          <p:cNvPr id="3" name="Text 0"/>
          <p:cNvSpPr/>
          <p:nvPr/>
        </p:nvSpPr>
        <p:spPr>
          <a:xfrm>
            <a:off x="685800" y="6400800"/>
            <a:ext cx="2743200" cy="228600"/>
          </a:xfrm>
          <a:prstGeom prst="rect">
            <a:avLst/>
          </a:prstGeom>
          <a:noFill/>
          <a:ln/>
        </p:spPr>
        <p:txBody>
          <a:bodyPr wrap="square" lIns="0" tIns="0" rIns="0" bIns="0" rtlCol="0" anchor="ctr"/>
          <a:lstStyle/>
          <a:p>
            <a:pPr indent="0" marL="0">
              <a:buNone/>
            </a:pPr>
            <a:r>
              <a:rPr lang="en-US" sz="1100" dirty="0">
                <a:solidFill>
                  <a:srgbClr val="4B5A70"/>
                </a:solidFill>
                <a:latin typeface="Calibri" pitchFamily="34" charset="0"/>
                <a:ea typeface="Calibri" pitchFamily="34" charset="-122"/>
                <a:cs typeface="Calibri" pitchFamily="34" charset="-120"/>
              </a:rPr>
              <a:t>Resolv</a:t>
            </a:r>
            <a:endParaRPr lang="en-US" sz="1100" dirty="0"/>
          </a:p>
        </p:txBody>
      </p:sp>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1234440"/>
            <a:ext cx="5852160" cy="1188720"/>
          </a:xfrm>
          <a:prstGeom prst="rect">
            <a:avLst/>
          </a:prstGeom>
          <a:noFill/>
          <a:ln/>
        </p:spPr>
        <p:txBody>
          <a:bodyPr wrap="square" lIns="0" tIns="0" rIns="0" bIns="0" rtlCol="0" anchor="ctr"/>
          <a:lstStyle/>
          <a:p>
            <a:pPr indent="0" marL="0">
              <a:buNone/>
            </a:pPr>
            <a:r>
              <a:rPr lang="en-US" sz="8000" b="1" dirty="0">
                <a:solidFill>
                  <a:srgbClr val="0B1220"/>
                </a:solidFill>
                <a:latin typeface="Calibri" pitchFamily="34" charset="0"/>
                <a:ea typeface="Calibri" pitchFamily="34" charset="-122"/>
                <a:cs typeface="Calibri" pitchFamily="34" charset="-120"/>
              </a:rPr>
              <a:t>Resolv</a:t>
            </a:r>
            <a:endParaRPr lang="en-US" sz="8000" dirty="0"/>
          </a:p>
        </p:txBody>
      </p:sp>
      <p:sp>
        <p:nvSpPr>
          <p:cNvPr id="3" name="Text 1"/>
          <p:cNvSpPr txBox="1"/>
          <p:nvPr/>
        </p:nvSpPr>
        <p:spPr>
          <a:xfrm>
            <a:off x="685800" y="2514600"/>
            <a:ext cx="6035040" cy="1325880"/>
          </a:xfrm>
          <a:prstGeom prst="rect">
            <a:avLst/>
          </a:prstGeom>
          <a:noFill/>
          <a:ln/>
        </p:spPr>
        <p:txBody>
          <a:bodyPr wrap="square" lIns="0" tIns="0" rIns="0" bIns="0" rtlCol="0" anchor="t"/>
          <a:lstStyle/>
          <a:p>
            <a:pPr indent="0" marL="0">
              <a:buNone/>
            </a:pPr>
            <a:r>
              <a:rPr lang="en-US" sz="2800" dirty="0">
                <a:solidFill>
                  <a:srgbClr val="0B1220"/>
                </a:solidFill>
                <a:latin typeface="Calibri" pitchFamily="34" charset="0"/>
                <a:ea typeface="Calibri" pitchFamily="34" charset="-122"/>
                <a:cs typeface="Calibri" pitchFamily="34" charset="-120"/>
              </a:rPr>
              <a:t>The AI teammate that finishes the support case, not just the conversation.</a:t>
            </a:r>
            <a:endParaRPr lang="en-US" sz="2800" dirty="0"/>
          </a:p>
        </p:txBody>
      </p:sp>
      <p:sp>
        <p:nvSpPr>
          <p:cNvPr id="4" name="Text 2"/>
          <p:cNvSpPr txBox="1"/>
          <p:nvPr/>
        </p:nvSpPr>
        <p:spPr>
          <a:xfrm>
            <a:off x="685800" y="4114800"/>
            <a:ext cx="5394960" cy="82296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Problem statement</a:t>
            </a:r>
            <a:endParaRPr lang="en-US" sz="1500" dirty="0"/>
          </a:p>
          <a:p>
            <a:pPr indent="0" marL="0">
              <a:buNone/>
            </a:pPr>
            <a:r>
              <a:rPr lang="en-US" sz="1500" dirty="0">
                <a:solidFill>
                  <a:srgbClr val="4B5A70"/>
                </a:solidFill>
                <a:latin typeface="Calibri" pitchFamily="34" charset="0"/>
                <a:ea typeface="Calibri" pitchFamily="34" charset="-122"/>
                <a:cs typeface="Calibri" pitchFamily="34" charset="-120"/>
              </a:rPr>
              <a:t>Design an AI teammate that goes beyond answering questions to deliver measurable outcomes in sales or customer service.</a:t>
            </a:r>
            <a:endParaRPr lang="en-US" sz="1500" dirty="0"/>
          </a:p>
        </p:txBody>
      </p:sp>
      <p:sp>
        <p:nvSpPr>
          <p:cNvPr id="5" name="Text 3"/>
          <p:cNvSpPr txBox="1"/>
          <p:nvPr/>
        </p:nvSpPr>
        <p:spPr>
          <a:xfrm>
            <a:off x="685800" y="5257800"/>
            <a:ext cx="5852160" cy="320040"/>
          </a:xfrm>
          <a:prstGeom prst="rect">
            <a:avLst/>
          </a:prstGeom>
          <a:noFill/>
          <a:ln/>
        </p:spPr>
        <p:txBody>
          <a:bodyPr wrap="square" lIns="0" tIns="0" rIns="0" bIns="0" rtlCol="0" anchor="t"/>
          <a:lstStyle/>
          <a:p>
            <a:pPr indent="0" marL="0">
              <a:buNone/>
            </a:pPr>
            <a:r>
              <a:rPr lang="en-US" sz="1700" b="1" dirty="0">
                <a:solidFill>
                  <a:srgbClr val="0B1220"/>
                </a:solidFill>
                <a:latin typeface="Calibri" pitchFamily="34" charset="0"/>
                <a:ea typeface="Calibri" pitchFamily="34" charset="-122"/>
                <a:cs typeface="Calibri" pitchFamily="34" charset="-120"/>
              </a:rPr>
              <a:t>[Team Name]</a:t>
            </a:r>
            <a:pPr indent="0" marL="0">
              <a:buNone/>
            </a:pPr>
            <a:r>
              <a:rPr lang="en-US" sz="1700" dirty="0">
                <a:solidFill>
                  <a:srgbClr val="4B5A70"/>
                </a:solidFill>
                <a:latin typeface="Calibri" pitchFamily="34" charset="0"/>
                <a:ea typeface="Calibri" pitchFamily="34" charset="-122"/>
                <a:cs typeface="Calibri" pitchFamily="34" charset="-120"/>
              </a:rPr>
              <a:t>   Team ID [Team ID]</a:t>
            </a:r>
            <a:endParaRPr lang="en-US" sz="1700" dirty="0"/>
          </a:p>
        </p:txBody>
      </p:sp>
      <p:sp>
        <p:nvSpPr>
          <p:cNvPr id="6" name="Text 4"/>
          <p:cNvSpPr txBox="1"/>
          <p:nvPr/>
        </p:nvSpPr>
        <p:spPr>
          <a:xfrm>
            <a:off x="685800" y="5623560"/>
            <a:ext cx="603504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[Member 1] · [Member 2] · [Member 3] · [Member 4] · [Member 5] · [Member 6]</a:t>
            </a:r>
            <a:endParaRPr lang="en-US" sz="1300" dirty="0"/>
          </a:p>
        </p:txBody>
      </p:sp>
      <p:sp>
        <p:nvSpPr>
          <p:cNvPr id="7" name="Product preview"/>
          <p:cNvSpPr/>
          <p:nvPr/>
        </p:nvSpPr>
        <p:spPr>
          <a:xfrm>
            <a:off x="7178040" y="1234440"/>
            <a:ext cx="4327855" cy="4526280"/>
          </a:xfrm>
          <a:prstGeom prst="rect">
            <a:avLst/>
          </a:prstGeom>
          <a:solidFill>
            <a:srgbClr val="FFFFFF"/>
          </a:solidFill>
          <a:ln w="9525">
            <a:solidFill>
              <a:srgbClr val="D3DBE6"/>
            </a:solidFill>
            <a:prstDash val="solid"/>
          </a:ln>
        </p:spPr>
      </p:sp>
      <p:sp>
        <p:nvSpPr>
          <p:cNvPr id="8" name="Text 6"/>
          <p:cNvSpPr txBox="1"/>
          <p:nvPr/>
        </p:nvSpPr>
        <p:spPr>
          <a:xfrm>
            <a:off x="7498080" y="1508760"/>
            <a:ext cx="3687775" cy="32004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Case A-1042</a:t>
            </a:r>
            <a:pPr indent="0" marL="0">
              <a:buNone/>
            </a:pPr>
            <a:r>
              <a:rPr lang="en-US" sz="1500" dirty="0">
                <a:solidFill>
                  <a:srgbClr val="4B5A70"/>
                </a:solidFill>
                <a:latin typeface="Calibri" pitchFamily="34" charset="0"/>
                <a:ea typeface="Calibri" pitchFamily="34" charset="-122"/>
                <a:cs typeface="Calibri" pitchFamily="34" charset="-120"/>
              </a:rPr>
              <a:t>   damaged item, via chat</a:t>
            </a:r>
            <a:endParaRPr lang="en-US" sz="1500" dirty="0"/>
          </a:p>
        </p:txBody>
      </p:sp>
      <p:sp>
        <p:nvSpPr>
          <p:cNvPr id="9" name="Shape 7"/>
          <p:cNvSpPr/>
          <p:nvPr/>
        </p:nvSpPr>
        <p:spPr>
          <a:xfrm>
            <a:off x="7498080" y="2011680"/>
            <a:ext cx="3687775" cy="0"/>
          </a:xfrm>
          <a:prstGeom prst="line">
            <a:avLst/>
          </a:prstGeom>
          <a:noFill/>
          <a:ln w="9525">
            <a:solidFill>
              <a:srgbClr val="D3DBE6"/>
            </a:solidFill>
            <a:prstDash val="solid"/>
          </a:ln>
        </p:spPr>
      </p:sp>
      <p:sp>
        <p:nvSpPr>
          <p:cNvPr id="10" name="Text 8"/>
          <p:cNvSpPr txBox="1"/>
          <p:nvPr/>
        </p:nvSpPr>
        <p:spPr>
          <a:xfrm>
            <a:off x="7498080" y="2194560"/>
            <a:ext cx="3687775" cy="365760"/>
          </a:xfrm>
          <a:prstGeom prst="rect">
            <a:avLst/>
          </a:prstGeom>
          <a:noFill/>
          <a:ln/>
        </p:spPr>
        <p:txBody>
          <a:bodyPr wrap="square" lIns="0" tIns="0" rIns="0" bIns="0" rtlCol="0" anchor="t"/>
          <a:lstStyle/>
          <a:p>
            <a:pPr indent="0" marL="0">
              <a:buNone/>
            </a:pPr>
            <a:r>
              <a:rPr lang="en-US" sz="1500" i="1" dirty="0">
                <a:solidFill>
                  <a:srgbClr val="0B1220"/>
                </a:solidFill>
                <a:latin typeface="Calibri" pitchFamily="34" charset="0"/>
                <a:ea typeface="Calibri" pitchFamily="34" charset="-122"/>
                <a:cs typeface="Calibri" pitchFamily="34" charset="-120"/>
              </a:rPr>
              <a:t>“My blender arrived with a cracked jar.”</a:t>
            </a:r>
            <a:endParaRPr lang="en-US" sz="1500" dirty="0"/>
          </a:p>
        </p:txBody>
      </p:sp>
      <p:sp>
        <p:nvSpPr>
          <p:cNvPr id="11" name="Shape 9"/>
          <p:cNvSpPr/>
          <p:nvPr/>
        </p:nvSpPr>
        <p:spPr>
          <a:xfrm>
            <a:off x="7498080" y="2743200"/>
            <a:ext cx="3687775" cy="0"/>
          </a:xfrm>
          <a:prstGeom prst="line">
            <a:avLst/>
          </a:prstGeom>
          <a:noFill/>
          <a:ln w="9525">
            <a:solidFill>
              <a:srgbClr val="D3DBE6"/>
            </a:solidFill>
            <a:prstDash val="solid"/>
          </a:ln>
        </p:spPr>
      </p:sp>
      <p:sp>
        <p:nvSpPr>
          <p:cNvPr id="12" name="Shape 10"/>
          <p:cNvSpPr/>
          <p:nvPr/>
        </p:nvSpPr>
        <p:spPr>
          <a:xfrm>
            <a:off x="7498080" y="3054096"/>
            <a:ext cx="146304" cy="146304"/>
          </a:xfrm>
          <a:prstGeom prst="ellipse">
            <a:avLst/>
          </a:prstGeom>
          <a:solidFill>
            <a:srgbClr val="3B82F6"/>
          </a:solidFill>
          <a:ln w="15875">
            <a:solidFill>
              <a:srgbClr val="3B82F6"/>
            </a:solidFill>
            <a:prstDash val="solid"/>
          </a:ln>
        </p:spPr>
      </p:sp>
      <p:sp>
        <p:nvSpPr>
          <p:cNvPr id="13" name="Text 11"/>
          <p:cNvSpPr txBox="1"/>
          <p:nvPr/>
        </p:nvSpPr>
        <p:spPr>
          <a:xfrm>
            <a:off x="7818120" y="2971800"/>
            <a:ext cx="3367735" cy="310896"/>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Checked the order and the damage policy</a:t>
            </a:r>
            <a:endParaRPr lang="en-US" sz="1500" dirty="0"/>
          </a:p>
        </p:txBody>
      </p:sp>
      <p:sp>
        <p:nvSpPr>
          <p:cNvPr id="14" name="Shape 12"/>
          <p:cNvSpPr/>
          <p:nvPr/>
        </p:nvSpPr>
        <p:spPr>
          <a:xfrm>
            <a:off x="7498080" y="3584448"/>
            <a:ext cx="146304" cy="146304"/>
          </a:xfrm>
          <a:prstGeom prst="ellipse">
            <a:avLst/>
          </a:prstGeom>
          <a:solidFill>
            <a:srgbClr val="3B82F6"/>
          </a:solidFill>
          <a:ln w="15875">
            <a:solidFill>
              <a:srgbClr val="3B82F6"/>
            </a:solidFill>
            <a:prstDash val="solid"/>
          </a:ln>
        </p:spPr>
      </p:sp>
      <p:sp>
        <p:nvSpPr>
          <p:cNvPr id="15" name="Text 13"/>
          <p:cNvSpPr txBox="1"/>
          <p:nvPr/>
        </p:nvSpPr>
        <p:spPr>
          <a:xfrm>
            <a:off x="7818120" y="3502152"/>
            <a:ext cx="3367735" cy="310896"/>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Chose a replacement, within its limit</a:t>
            </a:r>
            <a:endParaRPr lang="en-US" sz="1500" dirty="0"/>
          </a:p>
        </p:txBody>
      </p:sp>
      <p:sp>
        <p:nvSpPr>
          <p:cNvPr id="16" name="Shape 14"/>
          <p:cNvSpPr/>
          <p:nvPr/>
        </p:nvSpPr>
        <p:spPr>
          <a:xfrm>
            <a:off x="7498080" y="4114800"/>
            <a:ext cx="146304" cy="146304"/>
          </a:xfrm>
          <a:prstGeom prst="ellipse">
            <a:avLst/>
          </a:prstGeom>
          <a:solidFill>
            <a:srgbClr val="3B82F6"/>
          </a:solidFill>
          <a:ln w="15875">
            <a:solidFill>
              <a:srgbClr val="3B82F6"/>
            </a:solidFill>
            <a:prstDash val="solid"/>
          </a:ln>
        </p:spPr>
      </p:sp>
      <p:sp>
        <p:nvSpPr>
          <p:cNvPr id="17" name="Text 15"/>
          <p:cNvSpPr txBox="1"/>
          <p:nvPr/>
        </p:nvSpPr>
        <p:spPr>
          <a:xfrm>
            <a:off x="7818120" y="4032504"/>
            <a:ext cx="3367735" cy="310896"/>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Created the replacement order</a:t>
            </a:r>
            <a:endParaRPr lang="en-US" sz="1500" dirty="0"/>
          </a:p>
        </p:txBody>
      </p:sp>
      <p:sp>
        <p:nvSpPr>
          <p:cNvPr id="18" name="Shape 16"/>
          <p:cNvSpPr/>
          <p:nvPr/>
        </p:nvSpPr>
        <p:spPr>
          <a:xfrm>
            <a:off x="7498080" y="4645152"/>
            <a:ext cx="146304" cy="146304"/>
          </a:xfrm>
          <a:prstGeom prst="ellipse">
            <a:avLst/>
          </a:prstGeom>
          <a:solidFill>
            <a:srgbClr val="3B82F6"/>
          </a:solidFill>
          <a:ln w="15875">
            <a:solidFill>
              <a:srgbClr val="3B82F6"/>
            </a:solidFill>
            <a:prstDash val="solid"/>
          </a:ln>
        </p:spPr>
      </p:sp>
      <p:sp>
        <p:nvSpPr>
          <p:cNvPr id="19" name="Text 17"/>
          <p:cNvSpPr txBox="1"/>
          <p:nvPr/>
        </p:nvSpPr>
        <p:spPr>
          <a:xfrm>
            <a:off x="7818120" y="4562856"/>
            <a:ext cx="3367735" cy="310896"/>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Confirmed the new order ID</a:t>
            </a:r>
            <a:endParaRPr lang="en-US" sz="1500" dirty="0"/>
          </a:p>
        </p:txBody>
      </p:sp>
      <p:sp>
        <p:nvSpPr>
          <p:cNvPr id="20" name="Shape 18"/>
          <p:cNvSpPr/>
          <p:nvPr/>
        </p:nvSpPr>
        <p:spPr>
          <a:xfrm>
            <a:off x="7498080" y="5175504"/>
            <a:ext cx="146304" cy="146304"/>
          </a:xfrm>
          <a:prstGeom prst="ellipse">
            <a:avLst/>
          </a:prstGeom>
          <a:solidFill>
            <a:srgbClr val="FFFFFF"/>
          </a:solidFill>
          <a:ln w="15875">
            <a:solidFill>
              <a:srgbClr val="3B82F6"/>
            </a:solidFill>
            <a:prstDash val="solid"/>
          </a:ln>
        </p:spPr>
      </p:sp>
      <p:sp>
        <p:nvSpPr>
          <p:cNvPr id="21" name="Text 19"/>
          <p:cNvSpPr txBox="1"/>
          <p:nvPr/>
        </p:nvSpPr>
        <p:spPr>
          <a:xfrm>
            <a:off x="7818120" y="5093208"/>
            <a:ext cx="3367735" cy="310896"/>
          </a:xfrm>
          <a:prstGeom prst="rect">
            <a:avLst/>
          </a:prstGeom>
          <a:noFill/>
          <a:ln/>
        </p:spPr>
        <p:txBody>
          <a:bodyPr wrap="square" lIns="0" tIns="0" rIns="0" bIns="0" rtlCol="0" anchor="ctr"/>
          <a:lstStyle/>
          <a:p>
            <a:pPr indent="0" marL="0">
              <a:buNone/>
            </a:pPr>
            <a:r>
              <a:rPr lang="en-US" sz="1500" dirty="0">
                <a:solidFill>
                  <a:srgbClr val="4B5A70"/>
                </a:solidFill>
                <a:latin typeface="Calibri" pitchFamily="34" charset="0"/>
                <a:ea typeface="Calibri" pitchFamily="34" charset="-122"/>
                <a:cs typeface="Calibri" pitchFamily="34" charset="-120"/>
              </a:rPr>
              <a:t>Waiting for agent review</a:t>
            </a:r>
            <a:endParaRPr lang="en-US" sz="1500" dirty="0"/>
          </a:p>
        </p:txBody>
      </p:sp>
      <p:sp>
        <p:nvSpPr>
          <p:cNvPr id="22" name="Text 20"/>
          <p:cNvSpPr txBox="1"/>
          <p:nvPr/>
        </p:nvSpPr>
        <p:spPr>
          <a:xfrm>
            <a:off x="7178040" y="5870448"/>
            <a:ext cx="4327855" cy="228600"/>
          </a:xfrm>
          <a:prstGeom prst="rect">
            <a:avLst/>
          </a:prstGeom>
          <a:noFill/>
          <a:ln/>
        </p:spPr>
        <p:txBody>
          <a:bodyPr wrap="square" lIns="0" tIns="0" rIns="0" bIns="0" rtlCol="0" anchor="t"/>
          <a:lstStyle/>
          <a:p>
            <a:pPr indent="0" marL="0">
              <a:buNone/>
            </a:pPr>
            <a:r>
              <a:rPr lang="en-US" sz="1100" i="1" dirty="0">
                <a:solidFill>
                  <a:srgbClr val="4B5A70"/>
                </a:solidFill>
                <a:latin typeface="Calibri" pitchFamily="34" charset="0"/>
                <a:ea typeface="Calibri" pitchFamily="34" charset="-122"/>
                <a:cs typeface="Calibri" pitchFamily="34" charset="-120"/>
              </a:rPr>
              <a:t>Illustrative concept, not a built screen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10820095" cy="685800"/>
          </a:xfrm>
          <a:prstGeom prst="rect">
            <a:avLst/>
          </a:prstGeom>
          <a:noFill/>
          <a:ln/>
        </p:spPr>
        <p:txBody>
          <a:bodyPr wrap="square" lIns="0" tIns="0" rIns="0" bIns="0" rtlCol="0" anchor="t"/>
          <a:lstStyle/>
          <a:p>
            <a:pPr algn="l" indent="0" marL="0">
              <a:buNone/>
            </a:pPr>
            <a:r>
              <a:rPr lang="en-US" sz="3200" b="1" dirty="0">
                <a:solidFill>
                  <a:srgbClr val="0B1220"/>
                </a:solidFill>
                <a:latin typeface="Calibri" pitchFamily="34" charset="0"/>
                <a:ea typeface="Calibri" pitchFamily="34" charset="-122"/>
                <a:cs typeface="Calibri" pitchFamily="34" charset="-120"/>
              </a:rPr>
              <a:t>Answering is quick. Finishing the case is still manual.</a:t>
            </a:r>
            <a:endParaRPr lang="en-US" sz="3200" dirty="0"/>
          </a:p>
        </p:txBody>
      </p:sp>
      <p:sp>
        <p:nvSpPr>
          <p:cNvPr id="3" name="Text 1"/>
          <p:cNvSpPr txBox="1"/>
          <p:nvPr/>
        </p:nvSpPr>
        <p:spPr>
          <a:xfrm>
            <a:off x="685800" y="1463040"/>
            <a:ext cx="457200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A damaged-item case today</a:t>
            </a:r>
            <a:endParaRPr lang="en-US" sz="1300" dirty="0"/>
          </a:p>
        </p:txBody>
      </p:sp>
      <p:sp>
        <p:nvSpPr>
          <p:cNvPr id="4" name="Shape 2"/>
          <p:cNvSpPr/>
          <p:nvPr/>
        </p:nvSpPr>
        <p:spPr>
          <a:xfrm>
            <a:off x="685800" y="1965960"/>
            <a:ext cx="10820095" cy="0"/>
          </a:xfrm>
          <a:prstGeom prst="line">
            <a:avLst/>
          </a:prstGeom>
          <a:noFill/>
          <a:ln w="15875">
            <a:solidFill>
              <a:srgbClr val="94A3B8"/>
            </a:solidFill>
            <a:prstDash val="solid"/>
            <a:tailEnd type="triangle"/>
          </a:ln>
        </p:spPr>
      </p:sp>
      <p:sp>
        <p:nvSpPr>
          <p:cNvPr id="5" name="Shape 3"/>
          <p:cNvSpPr/>
          <p:nvPr/>
        </p:nvSpPr>
        <p:spPr>
          <a:xfrm>
            <a:off x="685800" y="1892808"/>
            <a:ext cx="146304" cy="146304"/>
          </a:xfrm>
          <a:prstGeom prst="ellipse">
            <a:avLst/>
          </a:prstGeom>
          <a:solidFill>
            <a:srgbClr val="0B1220"/>
          </a:solidFill>
          <a:ln w="12700">
            <a:solidFill>
              <a:srgbClr val="0B1220"/>
            </a:solidFill>
            <a:prstDash val="solid"/>
          </a:ln>
        </p:spPr>
      </p:sp>
      <p:sp>
        <p:nvSpPr>
          <p:cNvPr id="6" name="Text 4"/>
          <p:cNvSpPr txBox="1"/>
          <p:nvPr/>
        </p:nvSpPr>
        <p:spPr>
          <a:xfrm>
            <a:off x="685800" y="2194560"/>
            <a:ext cx="1889699" cy="64008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Customer reports a damaged item</a:t>
            </a:r>
            <a:endParaRPr lang="en-US" sz="1500" dirty="0"/>
          </a:p>
        </p:txBody>
      </p:sp>
      <p:sp>
        <p:nvSpPr>
          <p:cNvPr id="7" name="Shape 5"/>
          <p:cNvSpPr/>
          <p:nvPr/>
        </p:nvSpPr>
        <p:spPr>
          <a:xfrm>
            <a:off x="2849819" y="1892808"/>
            <a:ext cx="146304" cy="146304"/>
          </a:xfrm>
          <a:prstGeom prst="ellipse">
            <a:avLst/>
          </a:prstGeom>
          <a:solidFill>
            <a:srgbClr val="0B1220"/>
          </a:solidFill>
          <a:ln w="12700">
            <a:solidFill>
              <a:srgbClr val="0B1220"/>
            </a:solidFill>
            <a:prstDash val="solid"/>
          </a:ln>
        </p:spPr>
      </p:sp>
      <p:sp>
        <p:nvSpPr>
          <p:cNvPr id="8" name="Text 6"/>
          <p:cNvSpPr txBox="1"/>
          <p:nvPr/>
        </p:nvSpPr>
        <p:spPr>
          <a:xfrm>
            <a:off x="2849819" y="2194560"/>
            <a:ext cx="1889699" cy="64008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Agent searches helpdesk, orders, courier</a:t>
            </a:r>
            <a:endParaRPr lang="en-US" sz="1500" dirty="0"/>
          </a:p>
        </p:txBody>
      </p:sp>
      <p:sp>
        <p:nvSpPr>
          <p:cNvPr id="9" name="Shape 7"/>
          <p:cNvSpPr/>
          <p:nvPr/>
        </p:nvSpPr>
        <p:spPr>
          <a:xfrm>
            <a:off x="5013838" y="1892808"/>
            <a:ext cx="146304" cy="146304"/>
          </a:xfrm>
          <a:prstGeom prst="ellipse">
            <a:avLst/>
          </a:prstGeom>
          <a:solidFill>
            <a:srgbClr val="0B1220"/>
          </a:solidFill>
          <a:ln w="12700">
            <a:solidFill>
              <a:srgbClr val="0B1220"/>
            </a:solidFill>
            <a:prstDash val="solid"/>
          </a:ln>
        </p:spPr>
      </p:sp>
      <p:sp>
        <p:nvSpPr>
          <p:cNvPr id="10" name="Text 8"/>
          <p:cNvSpPr txBox="1"/>
          <p:nvPr/>
        </p:nvSpPr>
        <p:spPr>
          <a:xfrm>
            <a:off x="5013838" y="2194560"/>
            <a:ext cx="1889699" cy="64008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Agent pieces the context together</a:t>
            </a:r>
            <a:endParaRPr lang="en-US" sz="1500" dirty="0"/>
          </a:p>
        </p:txBody>
      </p:sp>
      <p:sp>
        <p:nvSpPr>
          <p:cNvPr id="11" name="Shape 9"/>
          <p:cNvSpPr/>
          <p:nvPr/>
        </p:nvSpPr>
        <p:spPr>
          <a:xfrm>
            <a:off x="7177857" y="1892808"/>
            <a:ext cx="146304" cy="146304"/>
          </a:xfrm>
          <a:prstGeom prst="ellipse">
            <a:avLst/>
          </a:prstGeom>
          <a:solidFill>
            <a:srgbClr val="0B1220"/>
          </a:solidFill>
          <a:ln w="12700">
            <a:solidFill>
              <a:srgbClr val="0B1220"/>
            </a:solidFill>
            <a:prstDash val="solid"/>
          </a:ln>
        </p:spPr>
      </p:sp>
      <p:sp>
        <p:nvSpPr>
          <p:cNvPr id="12" name="Text 10"/>
          <p:cNvSpPr txBox="1"/>
          <p:nvPr/>
        </p:nvSpPr>
        <p:spPr>
          <a:xfrm>
            <a:off x="7177857" y="2194560"/>
            <a:ext cx="1889699" cy="64008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Agent applies policy, updates each tool</a:t>
            </a:r>
            <a:endParaRPr lang="en-US" sz="1500" dirty="0"/>
          </a:p>
        </p:txBody>
      </p:sp>
      <p:sp>
        <p:nvSpPr>
          <p:cNvPr id="13" name="Shape 11"/>
          <p:cNvSpPr/>
          <p:nvPr/>
        </p:nvSpPr>
        <p:spPr>
          <a:xfrm>
            <a:off x="9341876" y="1892808"/>
            <a:ext cx="146304" cy="146304"/>
          </a:xfrm>
          <a:prstGeom prst="ellipse">
            <a:avLst/>
          </a:prstGeom>
          <a:solidFill>
            <a:srgbClr val="0B1220"/>
          </a:solidFill>
          <a:ln w="12700">
            <a:solidFill>
              <a:srgbClr val="0B1220"/>
            </a:solidFill>
            <a:prstDash val="solid"/>
          </a:ln>
        </p:spPr>
      </p:sp>
      <p:sp>
        <p:nvSpPr>
          <p:cNvPr id="14" name="Text 12"/>
          <p:cNvSpPr txBox="1"/>
          <p:nvPr/>
        </p:nvSpPr>
        <p:spPr>
          <a:xfrm>
            <a:off x="9341876" y="2194560"/>
            <a:ext cx="1889699" cy="64008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Outcome logged unevenly</a:t>
            </a:r>
            <a:endParaRPr lang="en-US" sz="1500" dirty="0"/>
          </a:p>
        </p:txBody>
      </p:sp>
      <p:sp>
        <p:nvSpPr>
          <p:cNvPr id="15" name="Text 13"/>
          <p:cNvSpPr txBox="1"/>
          <p:nvPr/>
        </p:nvSpPr>
        <p:spPr>
          <a:xfrm>
            <a:off x="685800" y="3154680"/>
            <a:ext cx="274320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Pain point</a:t>
            </a:r>
            <a:endParaRPr lang="en-US" sz="1300" dirty="0"/>
          </a:p>
        </p:txBody>
      </p:sp>
      <p:sp>
        <p:nvSpPr>
          <p:cNvPr id="16" name="Text 14"/>
          <p:cNvSpPr txBox="1"/>
          <p:nvPr/>
        </p:nvSpPr>
        <p:spPr>
          <a:xfrm>
            <a:off x="4160520" y="3154680"/>
            <a:ext cx="320040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What it costs the team</a:t>
            </a:r>
            <a:endParaRPr lang="en-US" sz="1300" dirty="0"/>
          </a:p>
        </p:txBody>
      </p:sp>
      <p:sp>
        <p:nvSpPr>
          <p:cNvPr id="17" name="Shape 15"/>
          <p:cNvSpPr/>
          <p:nvPr/>
        </p:nvSpPr>
        <p:spPr>
          <a:xfrm>
            <a:off x="685800" y="3502152"/>
            <a:ext cx="6720840" cy="0"/>
          </a:xfrm>
          <a:prstGeom prst="line">
            <a:avLst/>
          </a:prstGeom>
          <a:noFill/>
          <a:ln w="9525">
            <a:solidFill>
              <a:srgbClr val="D3DBE6"/>
            </a:solidFill>
            <a:prstDash val="solid"/>
          </a:ln>
        </p:spPr>
      </p:sp>
      <p:sp>
        <p:nvSpPr>
          <p:cNvPr id="18" name="Text 16"/>
          <p:cNvSpPr txBox="1"/>
          <p:nvPr/>
        </p:nvSpPr>
        <p:spPr>
          <a:xfrm>
            <a:off x="685800" y="3593592"/>
            <a:ext cx="3108960" cy="45720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Context is split across tools</a:t>
            </a:r>
            <a:endParaRPr lang="en-US" sz="1700" dirty="0"/>
          </a:p>
        </p:txBody>
      </p:sp>
      <p:sp>
        <p:nvSpPr>
          <p:cNvPr id="19" name="Shape 17"/>
          <p:cNvSpPr/>
          <p:nvPr/>
        </p:nvSpPr>
        <p:spPr>
          <a:xfrm>
            <a:off x="3703320" y="3822192"/>
            <a:ext cx="301752" cy="0"/>
          </a:xfrm>
          <a:prstGeom prst="line">
            <a:avLst/>
          </a:prstGeom>
          <a:noFill/>
          <a:ln w="15875">
            <a:solidFill>
              <a:srgbClr val="94A3B8"/>
            </a:solidFill>
            <a:prstDash val="solid"/>
            <a:tailEnd type="triangle"/>
          </a:ln>
        </p:spPr>
      </p:sp>
      <p:sp>
        <p:nvSpPr>
          <p:cNvPr id="20" name="Text 18"/>
          <p:cNvSpPr txBox="1"/>
          <p:nvPr/>
        </p:nvSpPr>
        <p:spPr>
          <a:xfrm>
            <a:off x="4160520" y="3593592"/>
            <a:ext cx="3246120" cy="457200"/>
          </a:xfrm>
          <a:prstGeom prst="rect">
            <a:avLst/>
          </a:prstGeom>
          <a:noFill/>
          <a:ln/>
        </p:spPr>
        <p:txBody>
          <a:bodyPr wrap="square" lIns="0" tIns="0" rIns="0" bIns="0" rtlCol="0" anchor="ctr"/>
          <a:lstStyle/>
          <a:p>
            <a:pPr indent="0" marL="0">
              <a:buNone/>
            </a:pPr>
            <a:r>
              <a:rPr lang="en-US" sz="1700" dirty="0">
                <a:solidFill>
                  <a:srgbClr val="0B1220"/>
                </a:solidFill>
                <a:latin typeface="Calibri" pitchFamily="34" charset="0"/>
                <a:ea typeface="Calibri" pitchFamily="34" charset="-122"/>
                <a:cs typeface="Calibri" pitchFamily="34" charset="-120"/>
              </a:rPr>
              <a:t>Longer handling; customers repeat themselves</a:t>
            </a:r>
            <a:endParaRPr lang="en-US" sz="1700" dirty="0"/>
          </a:p>
        </p:txBody>
      </p:sp>
      <p:sp>
        <p:nvSpPr>
          <p:cNvPr id="21" name="Shape 19"/>
          <p:cNvSpPr/>
          <p:nvPr/>
        </p:nvSpPr>
        <p:spPr>
          <a:xfrm>
            <a:off x="685800" y="4096512"/>
            <a:ext cx="6720840" cy="0"/>
          </a:xfrm>
          <a:prstGeom prst="line">
            <a:avLst/>
          </a:prstGeom>
          <a:noFill/>
          <a:ln w="9525">
            <a:solidFill>
              <a:srgbClr val="D3DBE6"/>
            </a:solidFill>
            <a:prstDash val="solid"/>
          </a:ln>
        </p:spPr>
      </p:sp>
      <p:sp>
        <p:nvSpPr>
          <p:cNvPr id="22" name="Text 20"/>
          <p:cNvSpPr txBox="1"/>
          <p:nvPr/>
        </p:nvSpPr>
        <p:spPr>
          <a:xfrm>
            <a:off x="685800" y="4142232"/>
            <a:ext cx="3108960" cy="45720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Bots answer but don't act</a:t>
            </a:r>
            <a:endParaRPr lang="en-US" sz="1700" dirty="0"/>
          </a:p>
        </p:txBody>
      </p:sp>
      <p:sp>
        <p:nvSpPr>
          <p:cNvPr id="23" name="Shape 21"/>
          <p:cNvSpPr/>
          <p:nvPr/>
        </p:nvSpPr>
        <p:spPr>
          <a:xfrm>
            <a:off x="3703320" y="4370832"/>
            <a:ext cx="301752" cy="0"/>
          </a:xfrm>
          <a:prstGeom prst="line">
            <a:avLst/>
          </a:prstGeom>
          <a:noFill/>
          <a:ln w="15875">
            <a:solidFill>
              <a:srgbClr val="94A3B8"/>
            </a:solidFill>
            <a:prstDash val="solid"/>
            <a:tailEnd type="triangle"/>
          </a:ln>
        </p:spPr>
      </p:sp>
      <p:sp>
        <p:nvSpPr>
          <p:cNvPr id="24" name="Text 22"/>
          <p:cNvSpPr txBox="1"/>
          <p:nvPr/>
        </p:nvSpPr>
        <p:spPr>
          <a:xfrm>
            <a:off x="4160520" y="4142232"/>
            <a:ext cx="3246120" cy="457200"/>
          </a:xfrm>
          <a:prstGeom prst="rect">
            <a:avLst/>
          </a:prstGeom>
          <a:noFill/>
          <a:ln/>
        </p:spPr>
        <p:txBody>
          <a:bodyPr wrap="square" lIns="0" tIns="0" rIns="0" bIns="0" rtlCol="0" anchor="ctr"/>
          <a:lstStyle/>
          <a:p>
            <a:pPr indent="0" marL="0">
              <a:buNone/>
            </a:pPr>
            <a:r>
              <a:rPr lang="en-US" sz="1700" dirty="0">
                <a:solidFill>
                  <a:srgbClr val="0B1220"/>
                </a:solidFill>
                <a:latin typeface="Calibri" pitchFamily="34" charset="0"/>
                <a:ea typeface="Calibri" pitchFamily="34" charset="-122"/>
                <a:cs typeface="Calibri" pitchFamily="34" charset="-120"/>
              </a:rPr>
              <a:t>The work is left unfinished</a:t>
            </a:r>
            <a:endParaRPr lang="en-US" sz="1700" dirty="0"/>
          </a:p>
        </p:txBody>
      </p:sp>
      <p:sp>
        <p:nvSpPr>
          <p:cNvPr id="25" name="Shape 23"/>
          <p:cNvSpPr/>
          <p:nvPr/>
        </p:nvSpPr>
        <p:spPr>
          <a:xfrm>
            <a:off x="685800" y="4645152"/>
            <a:ext cx="6720840" cy="0"/>
          </a:xfrm>
          <a:prstGeom prst="line">
            <a:avLst/>
          </a:prstGeom>
          <a:noFill/>
          <a:ln w="9525">
            <a:solidFill>
              <a:srgbClr val="D3DBE6"/>
            </a:solidFill>
            <a:prstDash val="solid"/>
          </a:ln>
        </p:spPr>
      </p:sp>
      <p:sp>
        <p:nvSpPr>
          <p:cNvPr id="26" name="Text 24"/>
          <p:cNvSpPr txBox="1"/>
          <p:nvPr/>
        </p:nvSpPr>
        <p:spPr>
          <a:xfrm>
            <a:off x="685800" y="4690872"/>
            <a:ext cx="3108960" cy="45720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Actions aren't checked</a:t>
            </a:r>
            <a:endParaRPr lang="en-US" sz="1700" dirty="0"/>
          </a:p>
        </p:txBody>
      </p:sp>
      <p:sp>
        <p:nvSpPr>
          <p:cNvPr id="27" name="Shape 25"/>
          <p:cNvSpPr/>
          <p:nvPr/>
        </p:nvSpPr>
        <p:spPr>
          <a:xfrm>
            <a:off x="3703320" y="4919472"/>
            <a:ext cx="301752" cy="0"/>
          </a:xfrm>
          <a:prstGeom prst="line">
            <a:avLst/>
          </a:prstGeom>
          <a:noFill/>
          <a:ln w="15875">
            <a:solidFill>
              <a:srgbClr val="94A3B8"/>
            </a:solidFill>
            <a:prstDash val="solid"/>
            <a:tailEnd type="triangle"/>
          </a:ln>
        </p:spPr>
      </p:sp>
      <p:sp>
        <p:nvSpPr>
          <p:cNvPr id="28" name="Text 26"/>
          <p:cNvSpPr txBox="1"/>
          <p:nvPr/>
        </p:nvSpPr>
        <p:spPr>
          <a:xfrm>
            <a:off x="4160520" y="4690872"/>
            <a:ext cx="3246120" cy="457200"/>
          </a:xfrm>
          <a:prstGeom prst="rect">
            <a:avLst/>
          </a:prstGeom>
          <a:noFill/>
          <a:ln/>
        </p:spPr>
        <p:txBody>
          <a:bodyPr wrap="square" lIns="0" tIns="0" rIns="0" bIns="0" rtlCol="0" anchor="ctr"/>
          <a:lstStyle/>
          <a:p>
            <a:pPr indent="0" marL="0">
              <a:buNone/>
            </a:pPr>
            <a:r>
              <a:rPr lang="en-US" sz="1700" dirty="0">
                <a:solidFill>
                  <a:srgbClr val="0B1220"/>
                </a:solidFill>
                <a:latin typeface="Calibri" pitchFamily="34" charset="0"/>
                <a:ea typeface="Calibri" pitchFamily="34" charset="-122"/>
                <a:cs typeface="Calibri" pitchFamily="34" charset="-120"/>
              </a:rPr>
              <a:t>Errors and rework</a:t>
            </a:r>
            <a:endParaRPr lang="en-US" sz="1700" dirty="0"/>
          </a:p>
        </p:txBody>
      </p:sp>
      <p:sp>
        <p:nvSpPr>
          <p:cNvPr id="29" name="Shape 27"/>
          <p:cNvSpPr/>
          <p:nvPr/>
        </p:nvSpPr>
        <p:spPr>
          <a:xfrm>
            <a:off x="685800" y="5193792"/>
            <a:ext cx="6720840" cy="0"/>
          </a:xfrm>
          <a:prstGeom prst="line">
            <a:avLst/>
          </a:prstGeom>
          <a:noFill/>
          <a:ln w="9525">
            <a:solidFill>
              <a:srgbClr val="D3DBE6"/>
            </a:solidFill>
            <a:prstDash val="solid"/>
          </a:ln>
        </p:spPr>
      </p:sp>
      <p:sp>
        <p:nvSpPr>
          <p:cNvPr id="30" name="Text 28"/>
          <p:cNvSpPr txBox="1"/>
          <p:nvPr/>
        </p:nvSpPr>
        <p:spPr>
          <a:xfrm>
            <a:off x="685800" y="5239512"/>
            <a:ext cx="3108960" cy="457200"/>
          </a:xfrm>
          <a:prstGeom prst="rect">
            <a:avLst/>
          </a:prstGeom>
          <a:noFill/>
          <a:ln/>
        </p:spPr>
        <p:txBody>
          <a:bodyPr wrap="square" lIns="0" tIns="0" rIns="0" bIns="0" rtlCol="0" anchor="ctr"/>
          <a:lstStyle/>
          <a:p>
            <a:pPr indent="0" marL="0">
              <a:buNone/>
            </a:pPr>
            <a:r>
              <a:rPr lang="en-US" sz="1700" b="1" dirty="0">
                <a:solidFill>
                  <a:srgbClr val="0B1220"/>
                </a:solidFill>
                <a:latin typeface="Calibri" pitchFamily="34" charset="0"/>
                <a:ea typeface="Calibri" pitchFamily="34" charset="-122"/>
                <a:cs typeface="Calibri" pitchFamily="34" charset="-120"/>
              </a:rPr>
              <a:t>Follow-ups live in memory</a:t>
            </a:r>
            <a:endParaRPr lang="en-US" sz="1700" dirty="0"/>
          </a:p>
        </p:txBody>
      </p:sp>
      <p:sp>
        <p:nvSpPr>
          <p:cNvPr id="31" name="Shape 29"/>
          <p:cNvSpPr/>
          <p:nvPr/>
        </p:nvSpPr>
        <p:spPr>
          <a:xfrm>
            <a:off x="3703320" y="5468112"/>
            <a:ext cx="301752" cy="0"/>
          </a:xfrm>
          <a:prstGeom prst="line">
            <a:avLst/>
          </a:prstGeom>
          <a:noFill/>
          <a:ln w="15875">
            <a:solidFill>
              <a:srgbClr val="94A3B8"/>
            </a:solidFill>
            <a:prstDash val="solid"/>
            <a:tailEnd type="triangle"/>
          </a:ln>
        </p:spPr>
      </p:sp>
      <p:sp>
        <p:nvSpPr>
          <p:cNvPr id="32" name="Text 30"/>
          <p:cNvSpPr txBox="1"/>
          <p:nvPr/>
        </p:nvSpPr>
        <p:spPr>
          <a:xfrm>
            <a:off x="4160520" y="5239512"/>
            <a:ext cx="3246120" cy="457200"/>
          </a:xfrm>
          <a:prstGeom prst="rect">
            <a:avLst/>
          </a:prstGeom>
          <a:noFill/>
          <a:ln/>
        </p:spPr>
        <p:txBody>
          <a:bodyPr wrap="square" lIns="0" tIns="0" rIns="0" bIns="0" rtlCol="0" anchor="ctr"/>
          <a:lstStyle/>
          <a:p>
            <a:pPr indent="0" marL="0">
              <a:buNone/>
            </a:pPr>
            <a:r>
              <a:rPr lang="en-US" sz="1700" dirty="0">
                <a:solidFill>
                  <a:srgbClr val="0B1220"/>
                </a:solidFill>
                <a:latin typeface="Calibri" pitchFamily="34" charset="0"/>
                <a:ea typeface="Calibri" pitchFamily="34" charset="-122"/>
                <a:cs typeface="Calibri" pitchFamily="34" charset="-120"/>
              </a:rPr>
              <a:t>Cases reopen; repeat sales are lost</a:t>
            </a:r>
            <a:endParaRPr lang="en-US" sz="1700" dirty="0"/>
          </a:p>
        </p:txBody>
      </p:sp>
      <p:sp>
        <p:nvSpPr>
          <p:cNvPr id="33" name="Shape 31"/>
          <p:cNvSpPr/>
          <p:nvPr/>
        </p:nvSpPr>
        <p:spPr>
          <a:xfrm>
            <a:off x="685800" y="5742432"/>
            <a:ext cx="6720840" cy="0"/>
          </a:xfrm>
          <a:prstGeom prst="line">
            <a:avLst/>
          </a:prstGeom>
          <a:noFill/>
          <a:ln w="9525">
            <a:solidFill>
              <a:srgbClr val="D3DBE6"/>
            </a:solidFill>
            <a:prstDash val="solid"/>
          </a:ln>
        </p:spPr>
      </p:sp>
      <p:sp>
        <p:nvSpPr>
          <p:cNvPr id="34" name="Text 32"/>
          <p:cNvSpPr txBox="1"/>
          <p:nvPr/>
        </p:nvSpPr>
        <p:spPr>
          <a:xfrm>
            <a:off x="8092440" y="3154680"/>
            <a:ext cx="3413455" cy="1783080"/>
          </a:xfrm>
          <a:prstGeom prst="rect">
            <a:avLst/>
          </a:prstGeom>
          <a:noFill/>
          <a:ln/>
        </p:spPr>
        <p:txBody>
          <a:bodyPr wrap="square" lIns="0" tIns="0" rIns="0" bIns="0" rtlCol="0" anchor="t"/>
          <a:lstStyle/>
          <a:p>
            <a:pPr indent="0" marL="0">
              <a:buNone/>
            </a:pPr>
            <a:r>
              <a:rPr lang="en-US" sz="2200" dirty="0">
                <a:solidFill>
                  <a:srgbClr val="0B1220"/>
                </a:solidFill>
                <a:latin typeface="Calibri" pitchFamily="34" charset="0"/>
                <a:ea typeface="Calibri" pitchFamily="34" charset="-122"/>
                <a:cs typeface="Calibri" pitchFamily="34" charset="-120"/>
              </a:rPr>
              <a:t>The gap isn't the answer. It's </a:t>
            </a:r>
            <a:pPr indent="0" marL="0">
              <a:buNone/>
            </a:pPr>
            <a:r>
              <a:rPr lang="en-US" sz="2200" b="1" dirty="0">
                <a:solidFill>
                  <a:srgbClr val="3B82F6"/>
                </a:solidFill>
                <a:latin typeface="Calibri" pitchFamily="34" charset="0"/>
                <a:ea typeface="Calibri" pitchFamily="34" charset="-122"/>
                <a:cs typeface="Calibri" pitchFamily="34" charset="-120"/>
              </a:rPr>
              <a:t>completing the next action</a:t>
            </a:r>
            <a:pPr indent="0" marL="0">
              <a:buNone/>
            </a:pPr>
            <a:r>
              <a:rPr lang="en-US" sz="2200" dirty="0">
                <a:solidFill>
                  <a:srgbClr val="0B1220"/>
                </a:solidFill>
                <a:latin typeface="Calibri" pitchFamily="34" charset="0"/>
                <a:ea typeface="Calibri" pitchFamily="34" charset="-122"/>
                <a:cs typeface="Calibri" pitchFamily="34" charset="-120"/>
              </a:rPr>
              <a:t>, checking it worked, and knowing when to bring in a person.</a:t>
            </a:r>
            <a:endParaRPr lang="en-US" sz="2200" dirty="0"/>
          </a:p>
        </p:txBody>
      </p:sp>
      <p:sp>
        <p:nvSpPr>
          <p:cNvPr id="35" name="Text 33"/>
          <p:cNvSpPr txBox="1"/>
          <p:nvPr/>
        </p:nvSpPr>
        <p:spPr>
          <a:xfrm>
            <a:off x="8092440" y="5166360"/>
            <a:ext cx="3413455" cy="777240"/>
          </a:xfrm>
          <a:prstGeom prst="rect">
            <a:avLst/>
          </a:prstGeom>
          <a:noFill/>
          <a:ln/>
        </p:spPr>
        <p:txBody>
          <a:bodyPr wrap="square" lIns="0" tIns="0" rIns="0" bIns="0" rtlCol="0" anchor="t"/>
          <a:lstStyle/>
          <a:p>
            <a:pPr indent="0" marL="0">
              <a:spcAft>
                <a:spcPts val="600"/>
              </a:spcAft>
              <a:buNone/>
            </a:pPr>
            <a:r>
              <a:rPr lang="en-US" sz="1500" b="1" dirty="0">
                <a:solidFill>
                  <a:srgbClr val="4B5A70"/>
                </a:solidFill>
                <a:latin typeface="Calibri" pitchFamily="34" charset="0"/>
                <a:ea typeface="Calibri" pitchFamily="34" charset="-122"/>
                <a:cs typeface="Calibri" pitchFamily="34" charset="-120"/>
              </a:rPr>
              <a:t>Chatbot</a:t>
            </a:r>
            <a:pPr indent="0" marL="0">
              <a:spcAft>
                <a:spcPts val="600"/>
              </a:spcAft>
              <a:buNone/>
            </a:pPr>
            <a:r>
              <a:rPr lang="en-US" sz="1500" dirty="0">
                <a:solidFill>
                  <a:srgbClr val="4B5A70"/>
                </a:solidFill>
                <a:latin typeface="Calibri" pitchFamily="34" charset="0"/>
                <a:ea typeface="Calibri" pitchFamily="34" charset="-122"/>
                <a:cs typeface="Calibri" pitchFamily="34" charset="-120"/>
              </a:rPr>
              <a:t>   answers, suggests</a:t>
            </a:r>
            <a:endParaRPr lang="en-US" sz="1500" dirty="0"/>
          </a:p>
          <a:p>
            <a:pPr indent="0" marL="0">
              <a:spcAft>
                <a:spcPts val="600"/>
              </a:spcAft>
              <a:buNone/>
            </a:pPr>
            <a:r>
              <a:rPr lang="en-US" sz="1500" b="1" dirty="0">
                <a:solidFill>
                  <a:srgbClr val="3B82F6"/>
                </a:solidFill>
                <a:latin typeface="Calibri" pitchFamily="34" charset="0"/>
                <a:ea typeface="Calibri" pitchFamily="34" charset="-122"/>
                <a:cs typeface="Calibri" pitchFamily="34" charset="-120"/>
              </a:rPr>
              <a:t>AI teammate</a:t>
            </a:r>
            <a:pPr indent="0" marL="0">
              <a:spcAft>
                <a:spcPts val="600"/>
              </a:spcAft>
              <a:buNone/>
            </a:pPr>
            <a:r>
              <a:rPr lang="en-US" sz="1500" dirty="0">
                <a:solidFill>
                  <a:srgbClr val="0B1220"/>
                </a:solidFill>
                <a:latin typeface="Calibri" pitchFamily="34" charset="0"/>
                <a:ea typeface="Calibri" pitchFamily="34" charset="-122"/>
                <a:cs typeface="Calibri" pitchFamily="34" charset="-120"/>
              </a:rPr>
              <a:t>   understands, decides, acts, verifies, escalates</a:t>
            </a:r>
            <a:endParaRPr lang="en-US" sz="1500" dirty="0"/>
          </a:p>
        </p:txBody>
      </p:sp>
      <p:sp>
        <p:nvSpPr>
          <p:cNvPr id="36" name="Text 34"/>
          <p:cNvSpPr txBox="1"/>
          <p:nvPr/>
        </p:nvSpPr>
        <p:spPr>
          <a:xfrm>
            <a:off x="685800" y="6035040"/>
            <a:ext cx="10820095" cy="228600"/>
          </a:xfrm>
          <a:prstGeom prst="rect">
            <a:avLst/>
          </a:prstGeom>
          <a:noFill/>
          <a:ln/>
        </p:spPr>
        <p:txBody>
          <a:bodyPr wrap="square" lIns="0" tIns="0" rIns="0" bIns="0" rtlCol="0" anchor="t"/>
          <a:lstStyle/>
          <a:p>
            <a:pPr indent="0" marL="0">
              <a:buNone/>
            </a:pPr>
            <a:r>
              <a:rPr lang="en-US" sz="1100" i="1" dirty="0">
                <a:solidFill>
                  <a:srgbClr val="4B5A70"/>
                </a:solidFill>
                <a:latin typeface="Calibri" pitchFamily="34" charset="0"/>
                <a:ea typeface="Calibri" pitchFamily="34" charset="-122"/>
                <a:cs typeface="Calibri" pitchFamily="34" charset="-120"/>
              </a:rPr>
              <a:t>Pain points are hypotheses for small and mid-size e-commerce support teams, to be checked in user interviews. No external statistics are claimed.</a:t>
            </a:r>
            <a:endParaRPr lang="en-US" sz="1100" dirty="0"/>
          </a:p>
        </p:txBody>
      </p:sp>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10820095" cy="685800"/>
          </a:xfrm>
          <a:prstGeom prst="rect">
            <a:avLst/>
          </a:prstGeom>
          <a:noFill/>
          <a:ln/>
        </p:spPr>
        <p:txBody>
          <a:bodyPr wrap="square" lIns="0" tIns="0" rIns="0" bIns="0" rtlCol="0" anchor="t"/>
          <a:lstStyle/>
          <a:p>
            <a:pPr algn="l" indent="0" marL="0">
              <a:buNone/>
            </a:pPr>
            <a:r>
              <a:rPr lang="en-US" sz="3200" b="1" dirty="0">
                <a:solidFill>
                  <a:srgbClr val="0B1220"/>
                </a:solidFill>
                <a:latin typeface="Calibri" pitchFamily="34" charset="0"/>
                <a:ea typeface="Calibri" pitchFamily="34" charset="-122"/>
                <a:cs typeface="Calibri" pitchFamily="34" charset="-120"/>
              </a:rPr>
              <a:t>Resolv finishes the case, and asks a human when it should.</a:t>
            </a:r>
            <a:endParaRPr lang="en-US" sz="3200" dirty="0"/>
          </a:p>
        </p:txBody>
      </p:sp>
      <p:sp>
        <p:nvSpPr>
          <p:cNvPr id="3" name="Text 1"/>
          <p:cNvSpPr/>
          <p:nvPr/>
        </p:nvSpPr>
        <p:spPr>
          <a:xfrm>
            <a:off x="685800" y="1828800"/>
            <a:ext cx="128016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500" dirty="0">
                <a:solidFill>
                  <a:srgbClr val="0B1220"/>
                </a:solidFill>
                <a:latin typeface="Calibri" pitchFamily="34" charset="0"/>
                <a:ea typeface="Calibri" pitchFamily="34" charset="-122"/>
                <a:cs typeface="Calibri" pitchFamily="34" charset="-120"/>
              </a:rPr>
              <a:t>Receive request</a:t>
            </a:r>
            <a:endParaRPr lang="en-US" sz="1500" dirty="0"/>
          </a:p>
        </p:txBody>
      </p:sp>
      <p:sp>
        <p:nvSpPr>
          <p:cNvPr id="4" name="Shape 2"/>
          <p:cNvSpPr/>
          <p:nvPr/>
        </p:nvSpPr>
        <p:spPr>
          <a:xfrm>
            <a:off x="1984248" y="2263140"/>
            <a:ext cx="166573" cy="0"/>
          </a:xfrm>
          <a:prstGeom prst="line">
            <a:avLst/>
          </a:prstGeom>
          <a:noFill/>
          <a:ln w="22225">
            <a:solidFill>
              <a:srgbClr val="3B82F6"/>
            </a:solidFill>
            <a:prstDash val="solid"/>
            <a:tailEnd type="triangle"/>
          </a:ln>
        </p:spPr>
      </p:sp>
      <p:sp>
        <p:nvSpPr>
          <p:cNvPr id="5" name="Text 3"/>
          <p:cNvSpPr/>
          <p:nvPr/>
        </p:nvSpPr>
        <p:spPr>
          <a:xfrm>
            <a:off x="2169109" y="1828800"/>
            <a:ext cx="128016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500" dirty="0">
                <a:solidFill>
                  <a:srgbClr val="0B1220"/>
                </a:solidFill>
                <a:latin typeface="Calibri" pitchFamily="34" charset="0"/>
                <a:ea typeface="Calibri" pitchFamily="34" charset="-122"/>
                <a:cs typeface="Calibri" pitchFamily="34" charset="-120"/>
              </a:rPr>
              <a:t>Retrieve context</a:t>
            </a:r>
            <a:endParaRPr lang="en-US" sz="1500" dirty="0"/>
          </a:p>
        </p:txBody>
      </p:sp>
      <p:sp>
        <p:nvSpPr>
          <p:cNvPr id="6" name="Shape 4"/>
          <p:cNvSpPr/>
          <p:nvPr/>
        </p:nvSpPr>
        <p:spPr>
          <a:xfrm>
            <a:off x="3467557" y="2263140"/>
            <a:ext cx="166573" cy="0"/>
          </a:xfrm>
          <a:prstGeom prst="line">
            <a:avLst/>
          </a:prstGeom>
          <a:noFill/>
          <a:ln w="22225">
            <a:solidFill>
              <a:srgbClr val="3B82F6"/>
            </a:solidFill>
            <a:prstDash val="solid"/>
            <a:tailEnd type="triangle"/>
          </a:ln>
        </p:spPr>
      </p:sp>
      <p:sp>
        <p:nvSpPr>
          <p:cNvPr id="7" name="Text 5"/>
          <p:cNvSpPr/>
          <p:nvPr/>
        </p:nvSpPr>
        <p:spPr>
          <a:xfrm>
            <a:off x="3652418" y="1828800"/>
            <a:ext cx="128016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500" dirty="0">
                <a:solidFill>
                  <a:srgbClr val="0B1220"/>
                </a:solidFill>
                <a:latin typeface="Calibri" pitchFamily="34" charset="0"/>
                <a:ea typeface="Calibri" pitchFamily="34" charset="-122"/>
                <a:cs typeface="Calibri" pitchFamily="34" charset="-120"/>
              </a:rPr>
              <a:t>Choose action</a:t>
            </a:r>
            <a:endParaRPr lang="en-US" sz="1500" dirty="0"/>
          </a:p>
        </p:txBody>
      </p:sp>
      <p:sp>
        <p:nvSpPr>
          <p:cNvPr id="8" name="Shape 6"/>
          <p:cNvSpPr/>
          <p:nvPr/>
        </p:nvSpPr>
        <p:spPr>
          <a:xfrm>
            <a:off x="4950866" y="2263140"/>
            <a:ext cx="166573" cy="0"/>
          </a:xfrm>
          <a:prstGeom prst="line">
            <a:avLst/>
          </a:prstGeom>
          <a:noFill/>
          <a:ln w="22225">
            <a:solidFill>
              <a:srgbClr val="3B82F6"/>
            </a:solidFill>
            <a:prstDash val="solid"/>
            <a:tailEnd type="triangle"/>
          </a:ln>
        </p:spPr>
      </p:sp>
      <p:sp>
        <p:nvSpPr>
          <p:cNvPr id="9" name="Text 7"/>
          <p:cNvSpPr/>
          <p:nvPr/>
        </p:nvSpPr>
        <p:spPr>
          <a:xfrm>
            <a:off x="5135728" y="1714500"/>
            <a:ext cx="1600200" cy="1097280"/>
          </a:xfrm>
          <a:prstGeom prst="diamond">
            <a:avLst/>
          </a:prstGeom>
          <a:solidFill>
            <a:srgbClr val="FFFFFF"/>
          </a:solidFill>
          <a:ln w="22225">
            <a:solidFill>
              <a:srgbClr val="3B82F6"/>
            </a:solidFill>
            <a:prstDash val="solid"/>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Within policy?</a:t>
            </a:r>
            <a:endParaRPr lang="en-US" sz="1400" dirty="0"/>
          </a:p>
        </p:txBody>
      </p:sp>
      <p:sp>
        <p:nvSpPr>
          <p:cNvPr id="10" name="Shape 8"/>
          <p:cNvSpPr/>
          <p:nvPr/>
        </p:nvSpPr>
        <p:spPr>
          <a:xfrm>
            <a:off x="6754216" y="2263140"/>
            <a:ext cx="166573" cy="0"/>
          </a:xfrm>
          <a:prstGeom prst="line">
            <a:avLst/>
          </a:prstGeom>
          <a:noFill/>
          <a:ln w="22225">
            <a:solidFill>
              <a:srgbClr val="3B82F6"/>
            </a:solidFill>
            <a:prstDash val="solid"/>
            <a:tailEnd type="triangle"/>
          </a:ln>
        </p:spPr>
      </p:sp>
      <p:sp>
        <p:nvSpPr>
          <p:cNvPr id="11" name="Text 9"/>
          <p:cNvSpPr/>
          <p:nvPr/>
        </p:nvSpPr>
        <p:spPr>
          <a:xfrm>
            <a:off x="6939077" y="1828800"/>
            <a:ext cx="128016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500" dirty="0">
                <a:solidFill>
                  <a:srgbClr val="0B1220"/>
                </a:solidFill>
                <a:latin typeface="Calibri" pitchFamily="34" charset="0"/>
                <a:ea typeface="Calibri" pitchFamily="34" charset="-122"/>
                <a:cs typeface="Calibri" pitchFamily="34" charset="-120"/>
              </a:rPr>
              <a:t>Act via tool</a:t>
            </a:r>
            <a:endParaRPr lang="en-US" sz="1500" dirty="0"/>
          </a:p>
        </p:txBody>
      </p:sp>
      <p:sp>
        <p:nvSpPr>
          <p:cNvPr id="12" name="Shape 10"/>
          <p:cNvSpPr/>
          <p:nvPr/>
        </p:nvSpPr>
        <p:spPr>
          <a:xfrm>
            <a:off x="8237525" y="2263140"/>
            <a:ext cx="166573" cy="0"/>
          </a:xfrm>
          <a:prstGeom prst="line">
            <a:avLst/>
          </a:prstGeom>
          <a:noFill/>
          <a:ln w="22225">
            <a:solidFill>
              <a:srgbClr val="3B82F6"/>
            </a:solidFill>
            <a:prstDash val="solid"/>
            <a:tailEnd type="triangle"/>
          </a:ln>
        </p:spPr>
      </p:sp>
      <p:sp>
        <p:nvSpPr>
          <p:cNvPr id="13" name="Text 11"/>
          <p:cNvSpPr/>
          <p:nvPr/>
        </p:nvSpPr>
        <p:spPr>
          <a:xfrm>
            <a:off x="8422386" y="1714500"/>
            <a:ext cx="1600200" cy="1097280"/>
          </a:xfrm>
          <a:prstGeom prst="diamond">
            <a:avLst/>
          </a:prstGeom>
          <a:solidFill>
            <a:srgbClr val="FFFFFF"/>
          </a:solidFill>
          <a:ln w="22225">
            <a:solidFill>
              <a:srgbClr val="3B82F6"/>
            </a:solidFill>
            <a:prstDash val="solid"/>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Verified?</a:t>
            </a:r>
            <a:endParaRPr lang="en-US" sz="1400" dirty="0"/>
          </a:p>
        </p:txBody>
      </p:sp>
      <p:sp>
        <p:nvSpPr>
          <p:cNvPr id="14" name="Shape 12"/>
          <p:cNvSpPr/>
          <p:nvPr/>
        </p:nvSpPr>
        <p:spPr>
          <a:xfrm>
            <a:off x="10040874" y="2263140"/>
            <a:ext cx="166573" cy="0"/>
          </a:xfrm>
          <a:prstGeom prst="line">
            <a:avLst/>
          </a:prstGeom>
          <a:noFill/>
          <a:ln w="22225">
            <a:solidFill>
              <a:srgbClr val="3B82F6"/>
            </a:solidFill>
            <a:prstDash val="solid"/>
            <a:tailEnd type="triangle"/>
          </a:ln>
        </p:spPr>
      </p:sp>
      <p:sp>
        <p:nvSpPr>
          <p:cNvPr id="15" name="Text 13"/>
          <p:cNvSpPr/>
          <p:nvPr/>
        </p:nvSpPr>
        <p:spPr>
          <a:xfrm>
            <a:off x="10225735" y="1828800"/>
            <a:ext cx="1280160" cy="868680"/>
          </a:xfrm>
          <a:prstGeom prst="rect">
            <a:avLst/>
          </a:prstGeom>
          <a:solidFill>
            <a:srgbClr val="2DD4BF"/>
          </a:solidFill>
          <a:ln w="12700">
            <a:solidFill>
              <a:srgbClr val="2DD4BF"/>
            </a:solidFill>
            <a:prstDash val="solid"/>
          </a:ln>
        </p:spPr>
        <p:txBody>
          <a:bodyPr wrap="square" lIns="50800" tIns="50800" rIns="50800" bIns="5080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Case resolved</a:t>
            </a:r>
            <a:endParaRPr lang="en-US" sz="1500" dirty="0"/>
          </a:p>
        </p:txBody>
      </p:sp>
      <p:sp>
        <p:nvSpPr>
          <p:cNvPr id="16" name="Text 14"/>
          <p:cNvSpPr txBox="1"/>
          <p:nvPr/>
        </p:nvSpPr>
        <p:spPr>
          <a:xfrm>
            <a:off x="6563182" y="1604772"/>
            <a:ext cx="548640" cy="219456"/>
          </a:xfrm>
          <a:prstGeom prst="rect">
            <a:avLst/>
          </a:prstGeom>
          <a:noFill/>
          <a:ln/>
        </p:spPr>
        <p:txBody>
          <a:bodyPr wrap="square" lIns="0" tIns="0" rIns="0" bIns="0" rtlCol="0" anchor="t"/>
          <a:lstStyle/>
          <a:p>
            <a:pPr algn="ctr" indent="0" marL="0">
              <a:buNone/>
            </a:pPr>
            <a:r>
              <a:rPr lang="en-US" sz="1300" dirty="0">
                <a:solidFill>
                  <a:srgbClr val="4B5A70"/>
                </a:solidFill>
                <a:latin typeface="Calibri" pitchFamily="34" charset="0"/>
                <a:ea typeface="Calibri" pitchFamily="34" charset="-122"/>
                <a:cs typeface="Calibri" pitchFamily="34" charset="-120"/>
              </a:rPr>
              <a:t>yes</a:t>
            </a:r>
            <a:endParaRPr lang="en-US" sz="1300" dirty="0"/>
          </a:p>
        </p:txBody>
      </p:sp>
      <p:sp>
        <p:nvSpPr>
          <p:cNvPr id="17" name="Text 15"/>
          <p:cNvSpPr txBox="1"/>
          <p:nvPr/>
        </p:nvSpPr>
        <p:spPr>
          <a:xfrm>
            <a:off x="9849841" y="1604772"/>
            <a:ext cx="548640" cy="219456"/>
          </a:xfrm>
          <a:prstGeom prst="rect">
            <a:avLst/>
          </a:prstGeom>
          <a:noFill/>
          <a:ln/>
        </p:spPr>
        <p:txBody>
          <a:bodyPr wrap="square" lIns="0" tIns="0" rIns="0" bIns="0" rtlCol="0" anchor="t"/>
          <a:lstStyle/>
          <a:p>
            <a:pPr algn="ctr" indent="0" marL="0">
              <a:buNone/>
            </a:pPr>
            <a:r>
              <a:rPr lang="en-US" sz="1300" dirty="0">
                <a:solidFill>
                  <a:srgbClr val="4B5A70"/>
                </a:solidFill>
                <a:latin typeface="Calibri" pitchFamily="34" charset="0"/>
                <a:ea typeface="Calibri" pitchFamily="34" charset="-122"/>
                <a:cs typeface="Calibri" pitchFamily="34" charset="-120"/>
              </a:rPr>
              <a:t>yes</a:t>
            </a:r>
            <a:endParaRPr lang="en-US" sz="1300" dirty="0"/>
          </a:p>
        </p:txBody>
      </p:sp>
      <p:sp>
        <p:nvSpPr>
          <p:cNvPr id="18" name="Human teammate"/>
          <p:cNvSpPr/>
          <p:nvPr/>
        </p:nvSpPr>
        <p:spPr>
          <a:xfrm>
            <a:off x="5135728" y="3429000"/>
            <a:ext cx="4886858" cy="777240"/>
          </a:xfrm>
          <a:prstGeom prst="roundRect">
            <a:avLst>
              <a:gd name="adj" fmla="val 21176"/>
            </a:avLst>
          </a:prstGeom>
          <a:solidFill>
            <a:srgbClr val="FFFFFF"/>
          </a:solidFill>
          <a:ln w="25400">
            <a:solidFill>
              <a:srgbClr val="0B1220"/>
            </a:solidFill>
            <a:prstDash val="solid"/>
          </a:ln>
        </p:spPr>
        <p:txBody>
          <a:bodyPr wrap="square" lIns="50800" tIns="50800" rIns="50800" bIns="50800" rtlCol="0" anchor="ctr"/>
          <a:lstStyle/>
          <a:p>
            <a:pPr algn="ctr" indent="0" marL="0">
              <a:buNone/>
            </a:pPr>
            <a:r>
              <a:rPr lang="en-US" sz="1500" b="1" dirty="0">
                <a:solidFill>
                  <a:srgbClr val="0B1220"/>
                </a:solidFill>
                <a:latin typeface="Calibri" pitchFamily="34" charset="0"/>
                <a:ea typeface="Calibri" pitchFamily="34" charset="-122"/>
                <a:cs typeface="Calibri" pitchFamily="34" charset="-120"/>
              </a:rPr>
              <a:t>Human teammate</a:t>
            </a:r>
            <a:pPr algn="ctr" indent="0" marL="0">
              <a:buNone/>
            </a:pPr>
            <a:r>
              <a:rPr lang="en-US" sz="1500" dirty="0">
                <a:solidFill>
                  <a:srgbClr val="0B1220"/>
                </a:solidFill>
                <a:latin typeface="Calibri" pitchFamily="34" charset="0"/>
                <a:ea typeface="Calibri" pitchFamily="34" charset="-122"/>
                <a:cs typeface="Calibri" pitchFamily="34" charset="-120"/>
              </a:rPr>
              <a:t>  approves, edits or takes over</a:t>
            </a:r>
            <a:endParaRPr lang="en-US" sz="1500" dirty="0"/>
          </a:p>
        </p:txBody>
      </p:sp>
      <p:sp>
        <p:nvSpPr>
          <p:cNvPr id="19" name="Shape 17"/>
          <p:cNvSpPr/>
          <p:nvPr/>
        </p:nvSpPr>
        <p:spPr>
          <a:xfrm>
            <a:off x="5935828" y="2830068"/>
            <a:ext cx="0" cy="580644"/>
          </a:xfrm>
          <a:prstGeom prst="line">
            <a:avLst/>
          </a:prstGeom>
          <a:noFill/>
          <a:ln w="15875">
            <a:solidFill>
              <a:srgbClr val="94A3B8"/>
            </a:solidFill>
            <a:prstDash val="solid"/>
            <a:tailEnd type="triangle"/>
          </a:ln>
        </p:spPr>
      </p:sp>
      <p:sp>
        <p:nvSpPr>
          <p:cNvPr id="20" name="Shape 18"/>
          <p:cNvSpPr/>
          <p:nvPr/>
        </p:nvSpPr>
        <p:spPr>
          <a:xfrm>
            <a:off x="9222486" y="2830068"/>
            <a:ext cx="0" cy="580644"/>
          </a:xfrm>
          <a:prstGeom prst="line">
            <a:avLst/>
          </a:prstGeom>
          <a:noFill/>
          <a:ln w="15875">
            <a:solidFill>
              <a:srgbClr val="94A3B8"/>
            </a:solidFill>
            <a:prstDash val="solid"/>
            <a:tailEnd type="triangle"/>
          </a:ln>
        </p:spPr>
      </p:sp>
      <p:sp>
        <p:nvSpPr>
          <p:cNvPr id="21" name="Shape 19"/>
          <p:cNvSpPr/>
          <p:nvPr/>
        </p:nvSpPr>
        <p:spPr>
          <a:xfrm flipV="1">
            <a:off x="7579157" y="2715768"/>
            <a:ext cx="0" cy="694944"/>
          </a:xfrm>
          <a:prstGeom prst="line">
            <a:avLst/>
          </a:prstGeom>
          <a:noFill/>
          <a:ln w="15875">
            <a:solidFill>
              <a:srgbClr val="94A3B8"/>
            </a:solidFill>
            <a:prstDash val="solid"/>
            <a:tailEnd type="triangle"/>
          </a:ln>
        </p:spPr>
      </p:sp>
      <p:sp>
        <p:nvSpPr>
          <p:cNvPr id="22" name="Text 20"/>
          <p:cNvSpPr txBox="1"/>
          <p:nvPr/>
        </p:nvSpPr>
        <p:spPr>
          <a:xfrm>
            <a:off x="4518508" y="2971800"/>
            <a:ext cx="1325880" cy="274320"/>
          </a:xfrm>
          <a:prstGeom prst="rect">
            <a:avLst/>
          </a:prstGeom>
          <a:noFill/>
          <a:ln/>
        </p:spPr>
        <p:txBody>
          <a:bodyPr wrap="square" lIns="0" tIns="0" rIns="0" bIns="0" rtlCol="0" anchor="t"/>
          <a:lstStyle/>
          <a:p>
            <a:pPr algn="r" indent="0" marL="0">
              <a:buNone/>
            </a:pPr>
            <a:r>
              <a:rPr lang="en-US" sz="1300" dirty="0">
                <a:solidFill>
                  <a:srgbClr val="4B5A70"/>
                </a:solidFill>
                <a:latin typeface="Calibri" pitchFamily="34" charset="0"/>
                <a:ea typeface="Calibri" pitchFamily="34" charset="-122"/>
                <a:cs typeface="Calibri" pitchFamily="34" charset="-120"/>
              </a:rPr>
              <a:t>needs approval</a:t>
            </a:r>
            <a:endParaRPr lang="en-US" sz="1300" dirty="0"/>
          </a:p>
        </p:txBody>
      </p:sp>
      <p:sp>
        <p:nvSpPr>
          <p:cNvPr id="23" name="Text 21"/>
          <p:cNvSpPr txBox="1"/>
          <p:nvPr/>
        </p:nvSpPr>
        <p:spPr>
          <a:xfrm>
            <a:off x="7670597" y="2971800"/>
            <a:ext cx="82296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approved</a:t>
            </a:r>
            <a:endParaRPr lang="en-US" sz="1300" dirty="0"/>
          </a:p>
        </p:txBody>
      </p:sp>
      <p:sp>
        <p:nvSpPr>
          <p:cNvPr id="24" name="Text 22"/>
          <p:cNvSpPr txBox="1"/>
          <p:nvPr/>
        </p:nvSpPr>
        <p:spPr>
          <a:xfrm>
            <a:off x="9313926" y="2971800"/>
            <a:ext cx="146304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fails after a retry</a:t>
            </a:r>
            <a:endParaRPr lang="en-US" sz="1300" dirty="0"/>
          </a:p>
        </p:txBody>
      </p:sp>
      <p:sp>
        <p:nvSpPr>
          <p:cNvPr id="25" name="Text 23"/>
          <p:cNvSpPr txBox="1"/>
          <p:nvPr/>
        </p:nvSpPr>
        <p:spPr>
          <a:xfrm>
            <a:off x="5135728" y="4315968"/>
            <a:ext cx="4886858"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Human decisions and verified outcomes are added to the test set.</a:t>
            </a:r>
            <a:endParaRPr lang="en-US" sz="1300" dirty="0"/>
          </a:p>
        </p:txBody>
      </p:sp>
      <p:sp>
        <p:nvSpPr>
          <p:cNvPr id="26" name="Text 24"/>
          <p:cNvSpPr txBox="1"/>
          <p:nvPr/>
        </p:nvSpPr>
        <p:spPr>
          <a:xfrm>
            <a:off x="685800" y="4709160"/>
            <a:ext cx="4572000"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Example</a:t>
            </a:r>
            <a:pPr indent="0" marL="0">
              <a:buNone/>
            </a:pPr>
            <a:r>
              <a:rPr lang="en-US" sz="1500" i="1" dirty="0">
                <a:solidFill>
                  <a:srgbClr val="4B5A70"/>
                </a:solidFill>
                <a:latin typeface="Calibri" pitchFamily="34" charset="0"/>
                <a:ea typeface="Calibri" pitchFamily="34" charset="-122"/>
                <a:cs typeface="Calibri" pitchFamily="34" charset="-120"/>
              </a:rPr>
              <a:t>  illustrative</a:t>
            </a:r>
            <a:endParaRPr lang="en-US" sz="1500" dirty="0"/>
          </a:p>
        </p:txBody>
      </p:sp>
      <p:sp>
        <p:nvSpPr>
          <p:cNvPr id="27" name="Text 25"/>
          <p:cNvSpPr txBox="1"/>
          <p:nvPr/>
        </p:nvSpPr>
        <p:spPr>
          <a:xfrm>
            <a:off x="685800" y="5120640"/>
            <a:ext cx="2148840" cy="1005840"/>
          </a:xfrm>
          <a:prstGeom prst="rect">
            <a:avLst/>
          </a:prstGeom>
          <a:noFill/>
          <a:ln/>
        </p:spPr>
        <p:txBody>
          <a:bodyPr wrap="square" lIns="0" tIns="0" rIns="0" bIns="0" rtlCol="0" anchor="t"/>
          <a:lstStyle/>
          <a:p>
            <a:pPr indent="0" marL="0">
              <a:buNone/>
            </a:pPr>
            <a:r>
              <a:rPr lang="en-US" sz="1300" b="1" dirty="0">
                <a:solidFill>
                  <a:srgbClr val="3B82F6"/>
                </a:solidFill>
                <a:latin typeface="Calibri" pitchFamily="34" charset="0"/>
                <a:ea typeface="Calibri" pitchFamily="34" charset="-122"/>
                <a:cs typeface="Calibri" pitchFamily="34" charset="-120"/>
              </a:rPr>
              <a:t>Customer</a:t>
            </a:r>
            <a:endParaRPr lang="en-US" sz="1500" dirty="0"/>
          </a:p>
          <a:p>
            <a:pPr indent="0" marL="0">
              <a:buNone/>
            </a:pPr>
            <a:r>
              <a:rPr lang="en-US" sz="1500" dirty="0">
                <a:solidFill>
                  <a:srgbClr val="0B1220"/>
                </a:solidFill>
                <a:latin typeface="Calibri" pitchFamily="34" charset="0"/>
                <a:ea typeface="Calibri" pitchFamily="34" charset="-122"/>
                <a:cs typeface="Calibri" pitchFamily="34" charset="-120"/>
              </a:rPr>
              <a:t>“My blender jar arrived cracked.”</a:t>
            </a:r>
            <a:endParaRPr lang="en-US" sz="1500" dirty="0"/>
          </a:p>
        </p:txBody>
      </p:sp>
      <p:sp>
        <p:nvSpPr>
          <p:cNvPr id="28" name="Text 26"/>
          <p:cNvSpPr txBox="1"/>
          <p:nvPr/>
        </p:nvSpPr>
        <p:spPr>
          <a:xfrm>
            <a:off x="3063240" y="5120640"/>
            <a:ext cx="2148840" cy="1005840"/>
          </a:xfrm>
          <a:prstGeom prst="rect">
            <a:avLst/>
          </a:prstGeom>
          <a:noFill/>
          <a:ln/>
        </p:spPr>
        <p:txBody>
          <a:bodyPr wrap="square" lIns="0" tIns="0" rIns="0" bIns="0" rtlCol="0" anchor="t"/>
          <a:lstStyle/>
          <a:p>
            <a:pPr indent="0" marL="0">
              <a:buNone/>
            </a:pPr>
            <a:r>
              <a:rPr lang="en-US" sz="1300" b="1" dirty="0">
                <a:solidFill>
                  <a:srgbClr val="3B82F6"/>
                </a:solidFill>
                <a:latin typeface="Calibri" pitchFamily="34" charset="0"/>
                <a:ea typeface="Calibri" pitchFamily="34" charset="-122"/>
                <a:cs typeface="Calibri" pitchFamily="34" charset="-120"/>
              </a:rPr>
              <a:t>Resolv acts</a:t>
            </a:r>
            <a:endParaRPr lang="en-US" sz="1500" dirty="0"/>
          </a:p>
          <a:p>
            <a:pPr indent="0" marL="0">
              <a:buNone/>
            </a:pPr>
            <a:r>
              <a:rPr lang="en-US" sz="1500" dirty="0">
                <a:solidFill>
                  <a:srgbClr val="0B1220"/>
                </a:solidFill>
                <a:latin typeface="Calibri" pitchFamily="34" charset="0"/>
                <a:ea typeface="Calibri" pitchFamily="34" charset="-122"/>
                <a:cs typeface="Calibri" pitchFamily="34" charset="-120"/>
              </a:rPr>
              <a:t>Creates a replacement within the auto-approve limit</a:t>
            </a:r>
            <a:endParaRPr lang="en-US" sz="1500" dirty="0"/>
          </a:p>
        </p:txBody>
      </p:sp>
      <p:sp>
        <p:nvSpPr>
          <p:cNvPr id="29" name="Text 27"/>
          <p:cNvSpPr txBox="1"/>
          <p:nvPr/>
        </p:nvSpPr>
        <p:spPr>
          <a:xfrm>
            <a:off x="5440680" y="5120640"/>
            <a:ext cx="2148840" cy="1005840"/>
          </a:xfrm>
          <a:prstGeom prst="rect">
            <a:avLst/>
          </a:prstGeom>
          <a:noFill/>
          <a:ln/>
        </p:spPr>
        <p:txBody>
          <a:bodyPr wrap="square" lIns="0" tIns="0" rIns="0" bIns="0" rtlCol="0" anchor="t"/>
          <a:lstStyle/>
          <a:p>
            <a:pPr indent="0" marL="0">
              <a:buNone/>
            </a:pPr>
            <a:r>
              <a:rPr lang="en-US" sz="1300" b="1" dirty="0">
                <a:solidFill>
                  <a:srgbClr val="3B82F6"/>
                </a:solidFill>
                <a:latin typeface="Calibri" pitchFamily="34" charset="0"/>
                <a:ea typeface="Calibri" pitchFamily="34" charset="-122"/>
                <a:cs typeface="Calibri" pitchFamily="34" charset="-120"/>
              </a:rPr>
              <a:t>Resolv checks</a:t>
            </a:r>
            <a:endParaRPr lang="en-US" sz="1500" dirty="0"/>
          </a:p>
          <a:p>
            <a:pPr indent="0" marL="0">
              <a:buNone/>
            </a:pPr>
            <a:r>
              <a:rPr lang="en-US" sz="1500" dirty="0">
                <a:solidFill>
                  <a:srgbClr val="0B1220"/>
                </a:solidFill>
                <a:latin typeface="Calibri" pitchFamily="34" charset="0"/>
                <a:ea typeface="Calibri" pitchFamily="34" charset="-122"/>
                <a:cs typeface="Calibri" pitchFamily="34" charset="-120"/>
              </a:rPr>
              <a:t>Order API returns a new order ID; ticket updated</a:t>
            </a:r>
            <a:endParaRPr lang="en-US" sz="1500" dirty="0"/>
          </a:p>
        </p:txBody>
      </p:sp>
      <p:sp>
        <p:nvSpPr>
          <p:cNvPr id="30" name="Text 28"/>
          <p:cNvSpPr txBox="1"/>
          <p:nvPr/>
        </p:nvSpPr>
        <p:spPr>
          <a:xfrm>
            <a:off x="8092440" y="4709160"/>
            <a:ext cx="341345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What's different</a:t>
            </a:r>
            <a:endParaRPr lang="en-US" sz="1500" dirty="0"/>
          </a:p>
        </p:txBody>
      </p:sp>
      <p:sp>
        <p:nvSpPr>
          <p:cNvPr id="31" name="Text 29"/>
          <p:cNvSpPr txBox="1"/>
          <p:nvPr/>
        </p:nvSpPr>
        <p:spPr>
          <a:xfrm>
            <a:off x="8092440" y="5120640"/>
            <a:ext cx="3413455" cy="1051560"/>
          </a:xfrm>
          <a:prstGeom prst="rect">
            <a:avLst/>
          </a:prstGeom>
          <a:noFill/>
          <a:ln/>
        </p:spPr>
        <p:txBody>
          <a:bodyPr wrap="square" lIns="0" tIns="0" rIns="0" bIns="0" rtlCol="0" anchor="t"/>
          <a:lstStyle/>
          <a:p>
            <a:pPr indent="0" marL="0">
              <a:spcAft>
                <a:spcPts val="400"/>
              </a:spcAft>
              <a:buNone/>
            </a:pPr>
            <a:r>
              <a:rPr lang="en-US" sz="1500" dirty="0">
                <a:solidFill>
                  <a:srgbClr val="0B1220"/>
                </a:solidFill>
                <a:latin typeface="Calibri" pitchFamily="34" charset="0"/>
                <a:ea typeface="Calibri" pitchFamily="34" charset="-122"/>
                <a:cs typeface="Calibri" pitchFamily="34" charset="-120"/>
              </a:rPr>
              <a:t>Completes the action, not just the reply</a:t>
            </a:r>
            <a:endParaRPr lang="en-US" sz="1500" dirty="0"/>
          </a:p>
          <a:p>
            <a:pPr indent="0" marL="0">
              <a:spcAft>
                <a:spcPts val="400"/>
              </a:spcAft>
              <a:buNone/>
            </a:pPr>
            <a:r>
              <a:rPr lang="en-US" sz="1500" dirty="0">
                <a:solidFill>
                  <a:srgbClr val="0B1220"/>
                </a:solidFill>
                <a:latin typeface="Calibri" pitchFamily="34" charset="0"/>
                <a:ea typeface="Calibri" pitchFamily="34" charset="-122"/>
                <a:cs typeface="Calibri" pitchFamily="34" charset="-120"/>
              </a:rPr>
              <a:t>Grounded in order and policy data</a:t>
            </a:r>
            <a:endParaRPr lang="en-US" sz="1500" dirty="0"/>
          </a:p>
          <a:p>
            <a:pPr indent="0" marL="0">
              <a:spcAft>
                <a:spcPts val="400"/>
              </a:spcAft>
              <a:buNone/>
            </a:pPr>
            <a:r>
              <a:rPr lang="en-US" sz="1500" dirty="0">
                <a:solidFill>
                  <a:srgbClr val="0B1220"/>
                </a:solidFill>
                <a:latin typeface="Calibri" pitchFamily="34" charset="0"/>
                <a:ea typeface="Calibri" pitchFamily="34" charset="-122"/>
                <a:cs typeface="Calibri" pitchFamily="34" charset="-120"/>
              </a:rPr>
              <a:t>Every action checked and logged</a:t>
            </a:r>
            <a:endParaRPr lang="en-US" sz="1500" dirty="0"/>
          </a:p>
          <a:p>
            <a:pPr indent="0" marL="0">
              <a:spcAft>
                <a:spcPts val="400"/>
              </a:spcAft>
              <a:buNone/>
            </a:pPr>
            <a:r>
              <a:rPr lang="en-US" sz="1500" dirty="0">
                <a:solidFill>
                  <a:srgbClr val="0B1220"/>
                </a:solidFill>
                <a:latin typeface="Calibri" pitchFamily="34" charset="0"/>
                <a:ea typeface="Calibri" pitchFamily="34" charset="-122"/>
                <a:cs typeface="Calibri" pitchFamily="34" charset="-120"/>
              </a:rPr>
              <a:t>Human approval built in</a:t>
            </a:r>
            <a:endParaRPr lang="en-US" sz="1500" dirty="0"/>
          </a:p>
        </p:txBody>
      </p:sp>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10820095" cy="685800"/>
          </a:xfrm>
          <a:prstGeom prst="rect">
            <a:avLst/>
          </a:prstGeom>
          <a:noFill/>
          <a:ln/>
        </p:spPr>
        <p:txBody>
          <a:bodyPr wrap="square" lIns="0" tIns="0" rIns="0" bIns="0" rtlCol="0" anchor="t"/>
          <a:lstStyle/>
          <a:p>
            <a:pPr algn="l" indent="0" marL="0">
              <a:buNone/>
            </a:pPr>
            <a:r>
              <a:rPr lang="en-US" sz="3200" b="1" dirty="0">
                <a:solidFill>
                  <a:srgbClr val="0B1220"/>
                </a:solidFill>
                <a:latin typeface="Calibri" pitchFamily="34" charset="0"/>
                <a:ea typeface="Calibri" pitchFamily="34" charset="-122"/>
                <a:cs typeface="Calibri" pitchFamily="34" charset="-120"/>
              </a:rPr>
              <a:t>The model proposes. Rules and tools decide what happens.</a:t>
            </a:r>
            <a:endParaRPr lang="en-US" sz="3200" dirty="0"/>
          </a:p>
        </p:txBody>
      </p:sp>
      <p:sp>
        <p:nvSpPr>
          <p:cNvPr id="3" name="Text 1"/>
          <p:cNvSpPr/>
          <p:nvPr/>
        </p:nvSpPr>
        <p:spPr>
          <a:xfrm>
            <a:off x="685800" y="1645920"/>
            <a:ext cx="3017520" cy="59436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500" dirty="0">
                <a:solidFill>
                  <a:srgbClr val="0B1220"/>
                </a:solidFill>
                <a:latin typeface="Calibri" pitchFamily="34" charset="0"/>
                <a:ea typeface="Calibri" pitchFamily="34" charset="-122"/>
                <a:cs typeface="Calibri" pitchFamily="34" charset="-120"/>
              </a:rPr>
              <a:t>Customer chat</a:t>
            </a:r>
            <a:endParaRPr lang="en-US" sz="1500" dirty="0"/>
          </a:p>
        </p:txBody>
      </p:sp>
      <p:sp>
        <p:nvSpPr>
          <p:cNvPr id="4" name="Text 2"/>
          <p:cNvSpPr/>
          <p:nvPr/>
        </p:nvSpPr>
        <p:spPr>
          <a:xfrm>
            <a:off x="3977640" y="1645920"/>
            <a:ext cx="3017520" cy="59436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500" dirty="0">
                <a:solidFill>
                  <a:srgbClr val="0B1220"/>
                </a:solidFill>
                <a:latin typeface="Calibri" pitchFamily="34" charset="0"/>
                <a:ea typeface="Calibri" pitchFamily="34" charset="-122"/>
                <a:cs typeface="Calibri" pitchFamily="34" charset="-120"/>
              </a:rPr>
              <a:t>Agent console</a:t>
            </a:r>
            <a:endParaRPr lang="en-US" sz="1500" dirty="0"/>
          </a:p>
        </p:txBody>
      </p:sp>
      <p:sp>
        <p:nvSpPr>
          <p:cNvPr id="5" name="Agent service"/>
          <p:cNvSpPr/>
          <p:nvPr/>
        </p:nvSpPr>
        <p:spPr>
          <a:xfrm>
            <a:off x="685800" y="2606040"/>
            <a:ext cx="6309360" cy="1600200"/>
          </a:xfrm>
          <a:prstGeom prst="rect">
            <a:avLst/>
          </a:prstGeom>
          <a:solidFill>
            <a:srgbClr val="FFFFFF"/>
          </a:solidFill>
          <a:ln w="12700">
            <a:solidFill>
              <a:srgbClr val="94A3B8"/>
            </a:solidFill>
            <a:prstDash val="solid"/>
          </a:ln>
        </p:spPr>
      </p:sp>
      <p:sp>
        <p:nvSpPr>
          <p:cNvPr id="6" name="Text 4"/>
          <p:cNvSpPr txBox="1"/>
          <p:nvPr/>
        </p:nvSpPr>
        <p:spPr>
          <a:xfrm>
            <a:off x="868680" y="2715768"/>
            <a:ext cx="5943600" cy="274320"/>
          </a:xfrm>
          <a:prstGeom prst="rect">
            <a:avLst/>
          </a:prstGeom>
          <a:noFill/>
          <a:ln/>
        </p:spPr>
        <p:txBody>
          <a:bodyPr wrap="square" lIns="0" tIns="0" rIns="0" bIns="0" rtlCol="0" anchor="t"/>
          <a:lstStyle/>
          <a:p>
            <a:pPr indent="0" marL="0">
              <a:buNone/>
            </a:pPr>
            <a:r>
              <a:rPr lang="en-US" sz="1300" b="1" dirty="0">
                <a:solidFill>
                  <a:srgbClr val="0B1220"/>
                </a:solidFill>
                <a:latin typeface="Calibri" pitchFamily="34" charset="0"/>
                <a:ea typeface="Calibri" pitchFamily="34" charset="-122"/>
                <a:cs typeface="Calibri" pitchFamily="34" charset="-120"/>
              </a:rPr>
              <a:t>Agent service</a:t>
            </a:r>
            <a:pPr indent="0" marL="0">
              <a:buNone/>
            </a:pPr>
            <a:r>
              <a:rPr lang="en-US" sz="1300" dirty="0">
                <a:solidFill>
                  <a:srgbClr val="4B5A70"/>
                </a:solidFill>
                <a:latin typeface="Calibri" pitchFamily="34" charset="0"/>
                <a:ea typeface="Calibri" pitchFamily="34" charset="-122"/>
                <a:cs typeface="Calibri" pitchFamily="34" charset="-120"/>
              </a:rPr>
              <a:t>   FastAPI + LangGraph</a:t>
            </a:r>
            <a:endParaRPr lang="en-US" sz="1300" dirty="0"/>
          </a:p>
        </p:txBody>
      </p:sp>
      <p:sp>
        <p:nvSpPr>
          <p:cNvPr id="7" name="Text 5"/>
          <p:cNvSpPr/>
          <p:nvPr/>
        </p:nvSpPr>
        <p:spPr>
          <a:xfrm>
            <a:off x="868680" y="3154680"/>
            <a:ext cx="132588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Retrieve context</a:t>
            </a:r>
            <a:endParaRPr lang="en-US" sz="1400" dirty="0"/>
          </a:p>
        </p:txBody>
      </p:sp>
      <p:sp>
        <p:nvSpPr>
          <p:cNvPr id="8" name="Shape 6"/>
          <p:cNvSpPr/>
          <p:nvPr/>
        </p:nvSpPr>
        <p:spPr>
          <a:xfrm>
            <a:off x="2212848" y="3589020"/>
            <a:ext cx="146304" cy="0"/>
          </a:xfrm>
          <a:prstGeom prst="line">
            <a:avLst/>
          </a:prstGeom>
          <a:noFill/>
          <a:ln w="22225">
            <a:solidFill>
              <a:srgbClr val="3B82F6"/>
            </a:solidFill>
            <a:prstDash val="solid"/>
            <a:tailEnd type="triangle"/>
          </a:ln>
        </p:spPr>
      </p:sp>
      <p:sp>
        <p:nvSpPr>
          <p:cNvPr id="9" name="Text 7"/>
          <p:cNvSpPr/>
          <p:nvPr/>
        </p:nvSpPr>
        <p:spPr>
          <a:xfrm>
            <a:off x="2377440" y="3154680"/>
            <a:ext cx="132588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Propose action (Claude)</a:t>
            </a:r>
            <a:endParaRPr lang="en-US" sz="1400" dirty="0"/>
          </a:p>
        </p:txBody>
      </p:sp>
      <p:sp>
        <p:nvSpPr>
          <p:cNvPr id="10" name="Shape 8"/>
          <p:cNvSpPr/>
          <p:nvPr/>
        </p:nvSpPr>
        <p:spPr>
          <a:xfrm>
            <a:off x="3721608" y="3589020"/>
            <a:ext cx="146304" cy="0"/>
          </a:xfrm>
          <a:prstGeom prst="line">
            <a:avLst/>
          </a:prstGeom>
          <a:noFill/>
          <a:ln w="22225">
            <a:solidFill>
              <a:srgbClr val="3B82F6"/>
            </a:solidFill>
            <a:prstDash val="solid"/>
            <a:tailEnd type="triangle"/>
          </a:ln>
        </p:spPr>
      </p:sp>
      <p:sp>
        <p:nvSpPr>
          <p:cNvPr id="11" name="Text 9"/>
          <p:cNvSpPr/>
          <p:nvPr/>
        </p:nvSpPr>
        <p:spPr>
          <a:xfrm>
            <a:off x="3886200" y="3154680"/>
            <a:ext cx="1325880" cy="868680"/>
          </a:xfrm>
          <a:prstGeom prst="diamond">
            <a:avLst/>
          </a:prstGeom>
          <a:solidFill>
            <a:srgbClr val="FFFFFF"/>
          </a:solidFill>
          <a:ln w="22225">
            <a:solidFill>
              <a:srgbClr val="3B82F6"/>
            </a:solidFill>
            <a:prstDash val="solid"/>
          </a:ln>
        </p:spPr>
        <p:txBody>
          <a:bodyPr wrap="square" lIns="50800" tIns="50800" rIns="50800" bIns="5080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Policy gate</a:t>
            </a:r>
            <a:endParaRPr lang="en-US" sz="1400" dirty="0"/>
          </a:p>
        </p:txBody>
      </p:sp>
      <p:sp>
        <p:nvSpPr>
          <p:cNvPr id="12" name="Shape 10"/>
          <p:cNvSpPr/>
          <p:nvPr/>
        </p:nvSpPr>
        <p:spPr>
          <a:xfrm>
            <a:off x="5230368" y="3589020"/>
            <a:ext cx="146304" cy="0"/>
          </a:xfrm>
          <a:prstGeom prst="line">
            <a:avLst/>
          </a:prstGeom>
          <a:noFill/>
          <a:ln w="22225">
            <a:solidFill>
              <a:srgbClr val="3B82F6"/>
            </a:solidFill>
            <a:prstDash val="solid"/>
            <a:tailEnd type="triangle"/>
          </a:ln>
        </p:spPr>
      </p:sp>
      <p:sp>
        <p:nvSpPr>
          <p:cNvPr id="13" name="Text 11"/>
          <p:cNvSpPr/>
          <p:nvPr/>
        </p:nvSpPr>
        <p:spPr>
          <a:xfrm>
            <a:off x="5394960" y="3154680"/>
            <a:ext cx="1325880" cy="868680"/>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Act + verify</a:t>
            </a:r>
            <a:endParaRPr lang="en-US" sz="1400" dirty="0"/>
          </a:p>
        </p:txBody>
      </p:sp>
      <p:sp>
        <p:nvSpPr>
          <p:cNvPr id="14" name="Shape 12"/>
          <p:cNvSpPr/>
          <p:nvPr/>
        </p:nvSpPr>
        <p:spPr>
          <a:xfrm>
            <a:off x="2194560" y="2258568"/>
            <a:ext cx="0" cy="329184"/>
          </a:xfrm>
          <a:prstGeom prst="line">
            <a:avLst/>
          </a:prstGeom>
          <a:noFill/>
          <a:ln w="15875">
            <a:solidFill>
              <a:srgbClr val="94A3B8"/>
            </a:solidFill>
            <a:prstDash val="solid"/>
            <a:tailEnd type="triangle"/>
          </a:ln>
        </p:spPr>
      </p:sp>
      <p:sp>
        <p:nvSpPr>
          <p:cNvPr id="15" name="Shape 13"/>
          <p:cNvSpPr/>
          <p:nvPr/>
        </p:nvSpPr>
        <p:spPr>
          <a:xfrm>
            <a:off x="4549140" y="2258568"/>
            <a:ext cx="0" cy="877824"/>
          </a:xfrm>
          <a:prstGeom prst="line">
            <a:avLst/>
          </a:prstGeom>
          <a:noFill/>
          <a:ln w="15875">
            <a:solidFill>
              <a:srgbClr val="94A3B8"/>
            </a:solidFill>
            <a:prstDash val="solid"/>
            <a:headEnd type="triangle"/>
            <a:tailEnd type="triangle"/>
          </a:ln>
        </p:spPr>
      </p:sp>
      <p:sp>
        <p:nvSpPr>
          <p:cNvPr id="16" name="Text 14"/>
          <p:cNvSpPr txBox="1"/>
          <p:nvPr/>
        </p:nvSpPr>
        <p:spPr>
          <a:xfrm>
            <a:off x="4622292" y="2286000"/>
            <a:ext cx="822960" cy="256032"/>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approval</a:t>
            </a:r>
            <a:endParaRPr lang="en-US" sz="1300" dirty="0"/>
          </a:p>
        </p:txBody>
      </p:sp>
      <p:sp>
        <p:nvSpPr>
          <p:cNvPr id="17" name="Text 15"/>
          <p:cNvSpPr/>
          <p:nvPr/>
        </p:nvSpPr>
        <p:spPr>
          <a:xfrm>
            <a:off x="685800" y="4617720"/>
            <a:ext cx="1463040" cy="777240"/>
          </a:xfrm>
          <a:prstGeom prst="can">
            <a:avLst/>
          </a:prstGeom>
          <a:solidFill>
            <a:srgbClr val="E9EEF5"/>
          </a:solidFill>
          <a:ln w="12700">
            <a:solidFill>
              <a:srgbClr val="94A3B8"/>
            </a:solidFill>
            <a:prstDash val="solid"/>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Orders &amp; tickets</a:t>
            </a:r>
            <a:endParaRPr lang="en-US" sz="1400" dirty="0"/>
          </a:p>
        </p:txBody>
      </p:sp>
      <p:sp>
        <p:nvSpPr>
          <p:cNvPr id="18" name="Shape 16"/>
          <p:cNvSpPr/>
          <p:nvPr/>
        </p:nvSpPr>
        <p:spPr>
          <a:xfrm>
            <a:off x="1417320" y="4224528"/>
            <a:ext cx="0" cy="374904"/>
          </a:xfrm>
          <a:prstGeom prst="line">
            <a:avLst/>
          </a:prstGeom>
          <a:noFill/>
          <a:ln w="15875">
            <a:solidFill>
              <a:srgbClr val="94A3B8"/>
            </a:solidFill>
            <a:prstDash val="solid"/>
            <a:tailEnd type="triangle"/>
          </a:ln>
        </p:spPr>
      </p:sp>
      <p:sp>
        <p:nvSpPr>
          <p:cNvPr id="19" name="Text 17"/>
          <p:cNvSpPr/>
          <p:nvPr/>
        </p:nvSpPr>
        <p:spPr>
          <a:xfrm>
            <a:off x="2331720" y="4617720"/>
            <a:ext cx="1371600" cy="777240"/>
          </a:xfrm>
          <a:prstGeom prst="can">
            <a:avLst/>
          </a:prstGeom>
          <a:solidFill>
            <a:srgbClr val="E9EEF5"/>
          </a:solidFill>
          <a:ln w="12700">
            <a:solidFill>
              <a:srgbClr val="94A3B8"/>
            </a:solidFill>
            <a:prstDash val="solid"/>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Policy KB</a:t>
            </a:r>
            <a:endParaRPr lang="en-US" sz="1400" dirty="0"/>
          </a:p>
        </p:txBody>
      </p:sp>
      <p:sp>
        <p:nvSpPr>
          <p:cNvPr id="20" name="Shape 18"/>
          <p:cNvSpPr/>
          <p:nvPr/>
        </p:nvSpPr>
        <p:spPr>
          <a:xfrm>
            <a:off x="3017520" y="4224528"/>
            <a:ext cx="0" cy="374904"/>
          </a:xfrm>
          <a:prstGeom prst="line">
            <a:avLst/>
          </a:prstGeom>
          <a:noFill/>
          <a:ln w="15875">
            <a:solidFill>
              <a:srgbClr val="94A3B8"/>
            </a:solidFill>
            <a:prstDash val="solid"/>
            <a:tailEnd type="triangle"/>
          </a:ln>
        </p:spPr>
      </p:sp>
      <p:sp>
        <p:nvSpPr>
          <p:cNvPr id="21" name="Text 19"/>
          <p:cNvSpPr/>
          <p:nvPr/>
        </p:nvSpPr>
        <p:spPr>
          <a:xfrm>
            <a:off x="3886200" y="4617720"/>
            <a:ext cx="1371600" cy="777240"/>
          </a:xfrm>
          <a:prstGeom prst="can">
            <a:avLst/>
          </a:prstGeom>
          <a:solidFill>
            <a:srgbClr val="E9EEF5"/>
          </a:solidFill>
          <a:ln w="12700">
            <a:solidFill>
              <a:srgbClr val="94A3B8"/>
            </a:solidFill>
            <a:prstDash val="solid"/>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Audit log</a:t>
            </a:r>
            <a:endParaRPr lang="en-US" sz="1400" dirty="0"/>
          </a:p>
        </p:txBody>
      </p:sp>
      <p:sp>
        <p:nvSpPr>
          <p:cNvPr id="22" name="Shape 20"/>
          <p:cNvSpPr/>
          <p:nvPr/>
        </p:nvSpPr>
        <p:spPr>
          <a:xfrm>
            <a:off x="4572000" y="4224528"/>
            <a:ext cx="0" cy="374904"/>
          </a:xfrm>
          <a:prstGeom prst="line">
            <a:avLst/>
          </a:prstGeom>
          <a:noFill/>
          <a:ln w="15875">
            <a:solidFill>
              <a:srgbClr val="94A3B8"/>
            </a:solidFill>
            <a:prstDash val="solid"/>
            <a:tailEnd type="triangle"/>
          </a:ln>
        </p:spPr>
      </p:sp>
      <p:sp>
        <p:nvSpPr>
          <p:cNvPr id="23" name="Text 21"/>
          <p:cNvSpPr/>
          <p:nvPr/>
        </p:nvSpPr>
        <p:spPr>
          <a:xfrm>
            <a:off x="5440680" y="4617720"/>
            <a:ext cx="1554480" cy="777240"/>
          </a:xfrm>
          <a:prstGeom prst="rect">
            <a:avLst/>
          </a:prstGeom>
          <a:solidFill>
            <a:srgbClr val="F4F7FB"/>
          </a:solidFill>
          <a:ln w="12700">
            <a:solidFill>
              <a:srgbClr val="94A3B8"/>
            </a:solidFill>
            <a:prstDash val="dash"/>
          </a:ln>
        </p:spPr>
        <p:txBody>
          <a:bodyPr wrap="square" lIns="50800" tIns="50800" rIns="50800" bIns="50800" rtlCol="0" anchor="ctr"/>
          <a:lstStyle/>
          <a:p>
            <a:pPr algn="ctr" indent="0" marL="0">
              <a:buNone/>
            </a:pPr>
            <a:r>
              <a:rPr lang="en-US" sz="1400" dirty="0">
                <a:solidFill>
                  <a:srgbClr val="0B1220"/>
                </a:solidFill>
                <a:latin typeface="Calibri" pitchFamily="34" charset="0"/>
                <a:ea typeface="Calibri" pitchFamily="34" charset="-122"/>
                <a:cs typeface="Calibri" pitchFamily="34" charset="-120"/>
              </a:rPr>
              <a:t>Store / helpdesk APIs (mocked)</a:t>
            </a:r>
            <a:endParaRPr lang="en-US" sz="1400" dirty="0"/>
          </a:p>
        </p:txBody>
      </p:sp>
      <p:sp>
        <p:nvSpPr>
          <p:cNvPr id="24" name="Shape 22"/>
          <p:cNvSpPr/>
          <p:nvPr/>
        </p:nvSpPr>
        <p:spPr>
          <a:xfrm>
            <a:off x="6217920" y="4224528"/>
            <a:ext cx="0" cy="374904"/>
          </a:xfrm>
          <a:prstGeom prst="line">
            <a:avLst/>
          </a:prstGeom>
          <a:noFill/>
          <a:ln w="15875">
            <a:solidFill>
              <a:srgbClr val="94A3B8"/>
            </a:solidFill>
            <a:prstDash val="solid"/>
            <a:tailEnd type="triangle"/>
          </a:ln>
        </p:spPr>
      </p:sp>
      <p:sp>
        <p:nvSpPr>
          <p:cNvPr id="25" name="Text 23"/>
          <p:cNvSpPr/>
          <p:nvPr/>
        </p:nvSpPr>
        <p:spPr>
          <a:xfrm>
            <a:off x="685800" y="5596128"/>
            <a:ext cx="274320" cy="201168"/>
          </a:xfrm>
          <a:prstGeom prst="rect">
            <a:avLst/>
          </a:prstGeom>
          <a:solidFill>
            <a:srgbClr val="FFFFFF"/>
          </a:solidFill>
          <a:ln w="12700">
            <a:solidFill>
              <a:srgbClr val="94A3B8"/>
            </a:solidFill>
            <a:prstDash val="solid"/>
          </a:ln>
        </p:spPr>
        <p:txBody>
          <a:bodyPr wrap="square" lIns="50800" tIns="50800" rIns="50800" bIns="50800" rtlCol="0" anchor="ctr"/>
          <a:lstStyle/>
          <a:p>
            <a:pPr algn="ctr" indent="0" marL="0">
              <a:buNone/>
            </a:pPr>
            <a:endParaRPr lang="en-US" sz="1500" dirty="0"/>
          </a:p>
        </p:txBody>
      </p:sp>
      <p:sp>
        <p:nvSpPr>
          <p:cNvPr id="26" name="Text 24"/>
          <p:cNvSpPr txBox="1"/>
          <p:nvPr/>
        </p:nvSpPr>
        <p:spPr>
          <a:xfrm>
            <a:off x="1051560" y="5577840"/>
            <a:ext cx="1188720" cy="237744"/>
          </a:xfrm>
          <a:prstGeom prst="rect">
            <a:avLst/>
          </a:prstGeom>
          <a:noFill/>
          <a:ln/>
        </p:spPr>
        <p:txBody>
          <a:bodyPr wrap="square" lIns="0" tIns="0" rIns="0" bIns="0" rtlCol="0" anchor="ctr"/>
          <a:lstStyle/>
          <a:p>
            <a:pPr indent="0" marL="0">
              <a:buNone/>
            </a:pPr>
            <a:r>
              <a:rPr lang="en-US" sz="1100" dirty="0">
                <a:solidFill>
                  <a:srgbClr val="4B5A70"/>
                </a:solidFill>
                <a:latin typeface="Calibri" pitchFamily="34" charset="0"/>
                <a:ea typeface="Calibri" pitchFamily="34" charset="-122"/>
                <a:cs typeface="Calibri" pitchFamily="34" charset="-120"/>
              </a:rPr>
              <a:t>Component</a:t>
            </a:r>
            <a:endParaRPr lang="en-US" sz="1100" dirty="0"/>
          </a:p>
        </p:txBody>
      </p:sp>
      <p:sp>
        <p:nvSpPr>
          <p:cNvPr id="27" name="Text 25"/>
          <p:cNvSpPr/>
          <p:nvPr/>
        </p:nvSpPr>
        <p:spPr>
          <a:xfrm>
            <a:off x="2286000" y="5596128"/>
            <a:ext cx="274320" cy="201168"/>
          </a:xfrm>
          <a:prstGeom prst="diamond">
            <a:avLst/>
          </a:prstGeom>
          <a:solidFill>
            <a:srgbClr val="FFFFFF"/>
          </a:solidFill>
          <a:ln w="22225">
            <a:solidFill>
              <a:srgbClr val="3B82F6"/>
            </a:solidFill>
            <a:prstDash val="solid"/>
          </a:ln>
        </p:spPr>
        <p:txBody>
          <a:bodyPr wrap="square" lIns="50800" tIns="50800" rIns="50800" bIns="50800" rtlCol="0" anchor="ctr"/>
          <a:lstStyle/>
          <a:p>
            <a:pPr algn="ctr" indent="0" marL="0">
              <a:buNone/>
            </a:pPr>
            <a:endParaRPr lang="en-US" sz="1500" dirty="0"/>
          </a:p>
        </p:txBody>
      </p:sp>
      <p:sp>
        <p:nvSpPr>
          <p:cNvPr id="28" name="Text 26"/>
          <p:cNvSpPr txBox="1"/>
          <p:nvPr/>
        </p:nvSpPr>
        <p:spPr>
          <a:xfrm>
            <a:off x="2651760" y="5577840"/>
            <a:ext cx="1188720" cy="237744"/>
          </a:xfrm>
          <a:prstGeom prst="rect">
            <a:avLst/>
          </a:prstGeom>
          <a:noFill/>
          <a:ln/>
        </p:spPr>
        <p:txBody>
          <a:bodyPr wrap="square" lIns="0" tIns="0" rIns="0" bIns="0" rtlCol="0" anchor="ctr"/>
          <a:lstStyle/>
          <a:p>
            <a:pPr indent="0" marL="0">
              <a:buNone/>
            </a:pPr>
            <a:r>
              <a:rPr lang="en-US" sz="1100" dirty="0">
                <a:solidFill>
                  <a:srgbClr val="4B5A70"/>
                </a:solidFill>
                <a:latin typeface="Calibri" pitchFamily="34" charset="0"/>
                <a:ea typeface="Calibri" pitchFamily="34" charset="-122"/>
                <a:cs typeface="Calibri" pitchFamily="34" charset="-120"/>
              </a:rPr>
              <a:t>Decision</a:t>
            </a:r>
            <a:endParaRPr lang="en-US" sz="1100" dirty="0"/>
          </a:p>
        </p:txBody>
      </p:sp>
      <p:sp>
        <p:nvSpPr>
          <p:cNvPr id="29" name="Text 27"/>
          <p:cNvSpPr/>
          <p:nvPr/>
        </p:nvSpPr>
        <p:spPr>
          <a:xfrm>
            <a:off x="3886200" y="5596128"/>
            <a:ext cx="274320" cy="201168"/>
          </a:xfrm>
          <a:prstGeom prst="can">
            <a:avLst/>
          </a:prstGeom>
          <a:solidFill>
            <a:srgbClr val="E9EEF5"/>
          </a:solidFill>
          <a:ln w="12700">
            <a:solidFill>
              <a:srgbClr val="94A3B8"/>
            </a:solidFill>
            <a:prstDash val="solid"/>
          </a:ln>
        </p:spPr>
        <p:txBody>
          <a:bodyPr wrap="square" lIns="50800" tIns="50800" rIns="50800" bIns="50800" rtlCol="0" anchor="ctr"/>
          <a:lstStyle/>
          <a:p>
            <a:pPr algn="ctr" indent="0" marL="0">
              <a:buNone/>
            </a:pPr>
            <a:endParaRPr lang="en-US" sz="1500" dirty="0"/>
          </a:p>
        </p:txBody>
      </p:sp>
      <p:sp>
        <p:nvSpPr>
          <p:cNvPr id="30" name="Text 28"/>
          <p:cNvSpPr txBox="1"/>
          <p:nvPr/>
        </p:nvSpPr>
        <p:spPr>
          <a:xfrm>
            <a:off x="4251960" y="5577840"/>
            <a:ext cx="1188720" cy="237744"/>
          </a:xfrm>
          <a:prstGeom prst="rect">
            <a:avLst/>
          </a:prstGeom>
          <a:noFill/>
          <a:ln/>
        </p:spPr>
        <p:txBody>
          <a:bodyPr wrap="square" lIns="0" tIns="0" rIns="0" bIns="0" rtlCol="0" anchor="ctr"/>
          <a:lstStyle/>
          <a:p>
            <a:pPr indent="0" marL="0">
              <a:buNone/>
            </a:pPr>
            <a:r>
              <a:rPr lang="en-US" sz="1100" dirty="0">
                <a:solidFill>
                  <a:srgbClr val="4B5A70"/>
                </a:solidFill>
                <a:latin typeface="Calibri" pitchFamily="34" charset="0"/>
                <a:ea typeface="Calibri" pitchFamily="34" charset="-122"/>
                <a:cs typeface="Calibri" pitchFamily="34" charset="-120"/>
              </a:rPr>
              <a:t>Data store</a:t>
            </a:r>
            <a:endParaRPr lang="en-US" sz="1100" dirty="0"/>
          </a:p>
        </p:txBody>
      </p:sp>
      <p:sp>
        <p:nvSpPr>
          <p:cNvPr id="31" name="Text 29"/>
          <p:cNvSpPr/>
          <p:nvPr/>
        </p:nvSpPr>
        <p:spPr>
          <a:xfrm>
            <a:off x="5486400" y="5596128"/>
            <a:ext cx="274320" cy="201168"/>
          </a:xfrm>
          <a:prstGeom prst="rect">
            <a:avLst/>
          </a:prstGeom>
          <a:solidFill>
            <a:srgbClr val="F4F7FB"/>
          </a:solidFill>
          <a:ln w="12700">
            <a:solidFill>
              <a:srgbClr val="94A3B8"/>
            </a:solidFill>
            <a:prstDash val="dash"/>
          </a:ln>
        </p:spPr>
        <p:txBody>
          <a:bodyPr wrap="square" lIns="50800" tIns="50800" rIns="50800" bIns="50800" rtlCol="0" anchor="ctr"/>
          <a:lstStyle/>
          <a:p>
            <a:pPr algn="ctr" indent="0" marL="0">
              <a:buNone/>
            </a:pPr>
            <a:endParaRPr lang="en-US" sz="1500" dirty="0"/>
          </a:p>
        </p:txBody>
      </p:sp>
      <p:sp>
        <p:nvSpPr>
          <p:cNvPr id="32" name="Text 30"/>
          <p:cNvSpPr txBox="1"/>
          <p:nvPr/>
        </p:nvSpPr>
        <p:spPr>
          <a:xfrm>
            <a:off x="5852160" y="5577840"/>
            <a:ext cx="1188720" cy="237744"/>
          </a:xfrm>
          <a:prstGeom prst="rect">
            <a:avLst/>
          </a:prstGeom>
          <a:noFill/>
          <a:ln/>
        </p:spPr>
        <p:txBody>
          <a:bodyPr wrap="square" lIns="0" tIns="0" rIns="0" bIns="0" rtlCol="0" anchor="ctr"/>
          <a:lstStyle/>
          <a:p>
            <a:pPr indent="0" marL="0">
              <a:buNone/>
            </a:pPr>
            <a:r>
              <a:rPr lang="en-US" sz="1100" dirty="0">
                <a:solidFill>
                  <a:srgbClr val="4B5A70"/>
                </a:solidFill>
                <a:latin typeface="Calibri" pitchFamily="34" charset="0"/>
                <a:ea typeface="Calibri" pitchFamily="34" charset="-122"/>
                <a:cs typeface="Calibri" pitchFamily="34" charset="-120"/>
              </a:rPr>
              <a:t>External, mocked</a:t>
            </a:r>
            <a:endParaRPr lang="en-US" sz="1100" dirty="0"/>
          </a:p>
        </p:txBody>
      </p:sp>
      <p:sp>
        <p:nvSpPr>
          <p:cNvPr id="33" name="Text 31"/>
          <p:cNvSpPr txBox="1"/>
          <p:nvPr/>
        </p:nvSpPr>
        <p:spPr>
          <a:xfrm>
            <a:off x="685800" y="5916168"/>
            <a:ext cx="6309360" cy="256032"/>
          </a:xfrm>
          <a:prstGeom prst="rect">
            <a:avLst/>
          </a:prstGeom>
          <a:noFill/>
          <a:ln/>
        </p:spPr>
        <p:txBody>
          <a:bodyPr wrap="square" lIns="0" tIns="0" rIns="0" bIns="0" rtlCol="0" anchor="t"/>
          <a:lstStyle/>
          <a:p>
            <a:pPr indent="0" marL="0">
              <a:buNone/>
            </a:pPr>
            <a:r>
              <a:rPr lang="en-US" sz="1100" i="1" dirty="0">
                <a:solidFill>
                  <a:srgbClr val="4B5A70"/>
                </a:solidFill>
                <a:latin typeface="Calibri" pitchFamily="34" charset="0"/>
                <a:ea typeface="Calibri" pitchFamily="34" charset="-122"/>
                <a:cs typeface="Calibri" pitchFamily="34" charset="-120"/>
              </a:rPr>
              <a:t>Agent loop follows ReAct (Yao et al., 2022, arXiv:2210.03629) and Toolformer (Schick et al., 2023, arXiv:2302.04761).</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60920" y="1645920"/>
          <a:ext cx="4144975" cy="914400"/>
        </p:xfrm>
        <a:graphic>
          <a:graphicData uri="http://schemas.openxmlformats.org/drawingml/2006/table">
            <a:tbl>
              <a:tblPr/>
              <a:tblGrid>
                <a:gridCol w="1280160"/>
                <a:gridCol w="2011680"/>
                <a:gridCol w="853135"/>
              </a:tblGrid>
              <a:tr h="402336">
                <a:tc>
                  <a:txBody>
                    <a:bodyPr/>
                    <a:lstStyle/>
                    <a:p>
                      <a:pPr indent="0" marL="0">
                        <a:buNone/>
                      </a:pPr>
                      <a:r>
                        <a:rPr lang="en-US" sz="1300" dirty="0">
                          <a:solidFill>
                            <a:srgbClr val="4B5A70"/>
                          </a:solidFill>
                          <a:latin typeface="Calibri" pitchFamily="34" charset="0"/>
                          <a:ea typeface="Calibri" pitchFamily="34" charset="-122"/>
                          <a:cs typeface="Calibri" pitchFamily="34" charset="-120"/>
                        </a:rPr>
                        <a:t>Layer</a:t>
                      </a:r>
                      <a:endParaRPr lang="en-US" sz="13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4A3B8"/>
                      </a:solidFill>
                      <a:prstDash val="solid"/>
                      <a:round/>
                      <a:headEnd type="none" w="med" len="med"/>
                      <a:tailEnd type="none" w="med" len="med"/>
                    </a:lnB>
                  </a:tcPr>
                </a:tc>
                <a:tc>
                  <a:txBody>
                    <a:bodyPr/>
                    <a:lstStyle/>
                    <a:p>
                      <a:pPr indent="0" marL="0">
                        <a:buNone/>
                      </a:pPr>
                      <a:r>
                        <a:rPr lang="en-US" sz="1300" dirty="0">
                          <a:solidFill>
                            <a:srgbClr val="4B5A70"/>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4A3B8"/>
                      </a:solidFill>
                      <a:prstDash val="solid"/>
                      <a:round/>
                      <a:headEnd type="none" w="med" len="med"/>
                      <a:tailEnd type="none" w="med" len="med"/>
                    </a:lnB>
                  </a:tcPr>
                </a:tc>
                <a:tc>
                  <a:txBody>
                    <a:bodyPr/>
                    <a:lstStyle/>
                    <a:p>
                      <a:pPr indent="0" marL="0">
                        <a:buNone/>
                      </a:pPr>
                      <a:r>
                        <a:rPr lang="en-US" sz="1300" dirty="0">
                          <a:solidFill>
                            <a:srgbClr val="4B5A70"/>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12700" cap="flat" cmpd="sng" algn="ctr">
                      <a:solidFill>
                        <a:srgbClr val="94A3B8"/>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Interface</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React + TypeScript</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Agent service</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FastAPI, Python 3.11</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Agent loop</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LangGraph</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Claude Sonnet 5.5</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Data + audit</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PostgreSQL + pgvector</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Store / helpdesk</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Mock APIs</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i="1" dirty="0">
                          <a:solidFill>
                            <a:srgbClr val="0B1220"/>
                          </a:solidFill>
                          <a:latin typeface="Calibri" pitchFamily="34" charset="0"/>
                          <a:ea typeface="Calibri" pitchFamily="34" charset="-122"/>
                          <a:cs typeface="Calibri" pitchFamily="34" charset="-120"/>
                        </a:rPr>
                        <a:t>Mocked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Auth</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OAuth2 + roles</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i="1" dirty="0">
                          <a:solidFill>
                            <a:srgbClr val="4B5A70"/>
                          </a:solidFill>
                          <a:latin typeface="Calibri" pitchFamily="34" charset="0"/>
                          <a:ea typeface="Calibri" pitchFamily="34" charset="-122"/>
                          <a:cs typeface="Calibri" pitchFamily="34" charset="-120"/>
                        </a:rPr>
                        <a:t>Planned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Testing</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pytest scenarios</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r h="402336">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Deploy</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Docker Compose</a:t>
                      </a:r>
                      <a:endParaRPr lang="en-US" sz="1400" dirty="0">
                        <a:latin typeface="Calibri" charset="0"/>
                        <a:ea typeface="Calibri" charset="0"/>
                        <a:cs typeface="Calibri" charset="0"/>
                      </a:endParaRPr>
                    </a:p>
                  </a:txBody>
                  <a:tcPr marL="329184"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c>
                  <a:txBody>
                    <a:bodyPr/>
                    <a:lstStyle/>
                    <a:p>
                      <a:pPr indent="0" marL="0">
                        <a:buNone/>
                      </a:pPr>
                      <a:r>
                        <a:rPr lang="en-US" sz="1400" dirty="0">
                          <a:solidFill>
                            <a:srgbClr val="0B1220"/>
                          </a:solidFill>
                          <a:latin typeface="Calibri" pitchFamily="34" charset="0"/>
                          <a:ea typeface="Calibri" pitchFamily="34" charset="-122"/>
                          <a:cs typeface="Calibri" pitchFamily="34" charset="-120"/>
                        </a:rPr>
                        <a:t>Proposed</a:t>
                      </a:r>
                      <a:endParaRPr lang="en-US" sz="1400" dirty="0">
                        <a:latin typeface="Calibri" charset="0"/>
                        <a:ea typeface="Calibri" charset="0"/>
                        <a:cs typeface="Calibri" charset="0"/>
                      </a:endParaRPr>
                    </a:p>
                  </a:txBody>
                  <a:tcPr marL="36576" marR="36576" marT="0" marB="0" anchor="ctr">
                    <a:lnL w="0" cap="flat" cmpd="sng" algn="ctr">
                      <a:noFill/>
                    </a:lnL>
                    <a:lnR w="0" cap="flat" cmpd="sng" algn="ctr">
                      <a:noFill/>
                    </a:lnR>
                    <a:lnT w="0" cap="flat" cmpd="sng" algn="ctr">
                      <a:noFill/>
                    </a:lnT>
                    <a:lnB w="9525" cap="flat" cmpd="sng" algn="ctr">
                      <a:solidFill>
                        <a:srgbClr val="D3DBE6"/>
                      </a:solidFill>
                      <a:prstDash val="solid"/>
                      <a:round/>
                      <a:headEnd type="none" w="med" len="med"/>
                      <a:tailEnd type="none" w="med" len="med"/>
                    </a:lnB>
                  </a:tcPr>
                </a:tc>
              </a:tr>
            </a:tbl>
          </a:graphicData>
        </a:graphic>
      </p:graphicFrame>
      <p:pic>
        <p:nvPicPr>
          <p:cNvPr id="35" name="Image 0" descr="React + TypeScript logo">    </p:cNvPr>
          <p:cNvPicPr>
            <a:picLocks noChangeAspect="1"/>
          </p:cNvPicPr>
          <p:nvPr/>
        </p:nvPicPr>
        <p:blipFill>
          <a:blip r:embed="rId1"/>
          <a:stretch>
            <a:fillRect/>
          </a:stretch>
        </p:blipFill>
        <p:spPr>
          <a:xfrm>
            <a:off x="8695944" y="2148840"/>
            <a:ext cx="201168" cy="201168"/>
          </a:xfrm>
          <a:prstGeom prst="rect">
            <a:avLst/>
          </a:prstGeom>
        </p:spPr>
      </p:pic>
      <p:pic>
        <p:nvPicPr>
          <p:cNvPr id="36" name="Image 1" descr="FastAPI, Python 3.11 logo">    </p:cNvPr>
          <p:cNvPicPr>
            <a:picLocks noChangeAspect="1"/>
          </p:cNvPicPr>
          <p:nvPr/>
        </p:nvPicPr>
        <p:blipFill>
          <a:blip r:embed="rId2"/>
          <a:stretch>
            <a:fillRect/>
          </a:stretch>
        </p:blipFill>
        <p:spPr>
          <a:xfrm>
            <a:off x="8695944" y="2551176"/>
            <a:ext cx="201168" cy="201168"/>
          </a:xfrm>
          <a:prstGeom prst="rect">
            <a:avLst/>
          </a:prstGeom>
        </p:spPr>
      </p:pic>
      <p:pic>
        <p:nvPicPr>
          <p:cNvPr id="37" name="Image 2" descr="LangGraph logo">    </p:cNvPr>
          <p:cNvPicPr>
            <a:picLocks noChangeAspect="1"/>
          </p:cNvPicPr>
          <p:nvPr/>
        </p:nvPicPr>
        <p:blipFill>
          <a:blip r:embed="rId3"/>
          <a:stretch>
            <a:fillRect/>
          </a:stretch>
        </p:blipFill>
        <p:spPr>
          <a:xfrm>
            <a:off x="8695944" y="2953512"/>
            <a:ext cx="201168" cy="201168"/>
          </a:xfrm>
          <a:prstGeom prst="rect">
            <a:avLst/>
          </a:prstGeom>
        </p:spPr>
      </p:pic>
      <p:pic>
        <p:nvPicPr>
          <p:cNvPr id="38" name="Image 3" descr="Claude Sonnet 5.5 logo">    </p:cNvPr>
          <p:cNvPicPr>
            <a:picLocks noChangeAspect="1"/>
          </p:cNvPicPr>
          <p:nvPr/>
        </p:nvPicPr>
        <p:blipFill>
          <a:blip r:embed="rId4"/>
          <a:stretch>
            <a:fillRect/>
          </a:stretch>
        </p:blipFill>
        <p:spPr>
          <a:xfrm>
            <a:off x="8695944" y="3355848"/>
            <a:ext cx="201168" cy="201168"/>
          </a:xfrm>
          <a:prstGeom prst="rect">
            <a:avLst/>
          </a:prstGeom>
        </p:spPr>
      </p:pic>
      <p:pic>
        <p:nvPicPr>
          <p:cNvPr id="39" name="Image 4" descr="PostgreSQL + pgvector logo">    </p:cNvPr>
          <p:cNvPicPr>
            <a:picLocks noChangeAspect="1"/>
          </p:cNvPicPr>
          <p:nvPr/>
        </p:nvPicPr>
        <p:blipFill>
          <a:blip r:embed="rId5"/>
          <a:stretch>
            <a:fillRect/>
          </a:stretch>
        </p:blipFill>
        <p:spPr>
          <a:xfrm>
            <a:off x="8695944" y="3758184"/>
            <a:ext cx="201168" cy="201168"/>
          </a:xfrm>
          <a:prstGeom prst="rect">
            <a:avLst/>
          </a:prstGeom>
        </p:spPr>
      </p:pic>
      <p:pic>
        <p:nvPicPr>
          <p:cNvPr id="40" name="Image 5" descr="pytest scenarios logo">    </p:cNvPr>
          <p:cNvPicPr>
            <a:picLocks noChangeAspect="1"/>
          </p:cNvPicPr>
          <p:nvPr/>
        </p:nvPicPr>
        <p:blipFill>
          <a:blip r:embed="rId6"/>
          <a:stretch>
            <a:fillRect/>
          </a:stretch>
        </p:blipFill>
        <p:spPr>
          <a:xfrm>
            <a:off x="8695944" y="4965192"/>
            <a:ext cx="201168" cy="201168"/>
          </a:xfrm>
          <a:prstGeom prst="rect">
            <a:avLst/>
          </a:prstGeom>
        </p:spPr>
      </p:pic>
      <p:pic>
        <p:nvPicPr>
          <p:cNvPr id="41" name="Image 6" descr="Docker Compose logo">    </p:cNvPr>
          <p:cNvPicPr>
            <a:picLocks noChangeAspect="1"/>
          </p:cNvPicPr>
          <p:nvPr/>
        </p:nvPicPr>
        <p:blipFill>
          <a:blip r:embed="rId7"/>
          <a:stretch>
            <a:fillRect/>
          </a:stretch>
        </p:blipFill>
        <p:spPr>
          <a:xfrm>
            <a:off x="8695944" y="5367528"/>
            <a:ext cx="201168" cy="201168"/>
          </a:xfrm>
          <a:prstGeom prst="rect">
            <a:avLst/>
          </a:prstGeom>
        </p:spPr>
      </p:pic>
      <p:sp>
        <p:nvSpPr>
          <p:cNvPr id="42" name="Text 32"/>
          <p:cNvSpPr txBox="1"/>
          <p:nvPr/>
        </p:nvSpPr>
        <p:spPr>
          <a:xfrm>
            <a:off x="7360920" y="5733288"/>
            <a:ext cx="4144975" cy="457200"/>
          </a:xfrm>
          <a:prstGeom prst="rect">
            <a:avLst/>
          </a:prstGeom>
          <a:noFill/>
          <a:ln/>
        </p:spPr>
        <p:txBody>
          <a:bodyPr wrap="square" lIns="0" tIns="0" rIns="0" bIns="0" rtlCol="0" anchor="t"/>
          <a:lstStyle/>
          <a:p>
            <a:pPr indent="0" marL="0">
              <a:buNone/>
            </a:pPr>
            <a:r>
              <a:rPr lang="en-US" sz="1100" dirty="0">
                <a:solidFill>
                  <a:srgbClr val="4B5A70"/>
                </a:solidFill>
                <a:latin typeface="Calibri" pitchFamily="34" charset="0"/>
                <a:ea typeface="Calibri" pitchFamily="34" charset="-122"/>
                <a:cs typeface="Calibri" pitchFamily="34" charset="-120"/>
              </a:rPr>
              <a:t>Proposed: in the MVP plan, not yet built. Mocked: simulated for the demo. Planned: pilot or later. Nothing is implemented yet.</a:t>
            </a:r>
            <a:endParaRPr lang="en-US" sz="1100" dirty="0"/>
          </a:p>
        </p:txBody>
      </p:sp>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10820095" cy="685800"/>
          </a:xfrm>
          <a:prstGeom prst="rect">
            <a:avLst/>
          </a:prstGeom>
          <a:noFill/>
          <a:ln/>
        </p:spPr>
        <p:txBody>
          <a:bodyPr wrap="square" lIns="0" tIns="0" rIns="0" bIns="0" rtlCol="0" anchor="t"/>
          <a:lstStyle/>
          <a:p>
            <a:pPr algn="l" indent="0" marL="0">
              <a:buNone/>
            </a:pPr>
            <a:r>
              <a:rPr lang="en-US" sz="3200" b="1" dirty="0">
                <a:solidFill>
                  <a:srgbClr val="0B1220"/>
                </a:solidFill>
                <a:latin typeface="Calibri" pitchFamily="34" charset="0"/>
                <a:ea typeface="Calibri" pitchFamily="34" charset="-122"/>
                <a:cs typeface="Calibri" pitchFamily="34" charset="-120"/>
              </a:rPr>
              <a:t>Who gains, and how we'll know.</a:t>
            </a:r>
            <a:endParaRPr lang="en-US" sz="3200" dirty="0"/>
          </a:p>
        </p:txBody>
      </p:sp>
      <p:sp>
        <p:nvSpPr>
          <p:cNvPr id="3" name="Text 1"/>
          <p:cNvSpPr txBox="1"/>
          <p:nvPr/>
        </p:nvSpPr>
        <p:spPr>
          <a:xfrm>
            <a:off x="685800" y="1691640"/>
            <a:ext cx="6309360" cy="347472"/>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Support agents</a:t>
            </a:r>
            <a:endParaRPr lang="en-US" sz="2000" dirty="0"/>
          </a:p>
        </p:txBody>
      </p:sp>
      <p:sp>
        <p:nvSpPr>
          <p:cNvPr id="4" name="Text 2"/>
          <p:cNvSpPr txBox="1"/>
          <p:nvPr/>
        </p:nvSpPr>
        <p:spPr>
          <a:xfrm>
            <a:off x="685800" y="2075688"/>
            <a:ext cx="6309360" cy="365760"/>
          </a:xfrm>
          <a:prstGeom prst="rect">
            <a:avLst/>
          </a:prstGeom>
          <a:noFill/>
          <a:ln/>
        </p:spPr>
        <p:txBody>
          <a:bodyPr wrap="square" lIns="0" tIns="0" rIns="0" bIns="0" rtlCol="0" anchor="t"/>
          <a:lstStyle/>
          <a:p>
            <a:pPr indent="0" marL="0">
              <a:buNone/>
            </a:pPr>
            <a:r>
              <a:rPr lang="en-US" sz="1700" dirty="0">
                <a:solidFill>
                  <a:srgbClr val="0B1220"/>
                </a:solidFill>
                <a:latin typeface="Calibri" pitchFamily="34" charset="0"/>
                <a:ea typeface="Calibri" pitchFamily="34" charset="-122"/>
                <a:cs typeface="Calibri" pitchFamily="34" charset="-120"/>
              </a:rPr>
              <a:t>Fewer lookups and repeated updates; more time for hard cases.</a:t>
            </a:r>
            <a:endParaRPr lang="en-US" sz="1700" dirty="0"/>
          </a:p>
        </p:txBody>
      </p:sp>
      <p:sp>
        <p:nvSpPr>
          <p:cNvPr id="5" name="Text 3"/>
          <p:cNvSpPr txBox="1"/>
          <p:nvPr/>
        </p:nvSpPr>
        <p:spPr>
          <a:xfrm>
            <a:off x="685800" y="2459736"/>
            <a:ext cx="630936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via context retrieval and tool actions</a:t>
            </a:r>
            <a:endParaRPr lang="en-US" sz="1300" dirty="0"/>
          </a:p>
        </p:txBody>
      </p:sp>
      <p:sp>
        <p:nvSpPr>
          <p:cNvPr id="6" name="Shape 4"/>
          <p:cNvSpPr/>
          <p:nvPr/>
        </p:nvSpPr>
        <p:spPr>
          <a:xfrm>
            <a:off x="685800" y="2880360"/>
            <a:ext cx="6309360" cy="0"/>
          </a:xfrm>
          <a:prstGeom prst="line">
            <a:avLst/>
          </a:prstGeom>
          <a:noFill/>
          <a:ln w="9525">
            <a:solidFill>
              <a:srgbClr val="D3DBE6"/>
            </a:solidFill>
            <a:prstDash val="solid"/>
          </a:ln>
        </p:spPr>
      </p:sp>
      <p:sp>
        <p:nvSpPr>
          <p:cNvPr id="7" name="Text 5"/>
          <p:cNvSpPr txBox="1"/>
          <p:nvPr/>
        </p:nvSpPr>
        <p:spPr>
          <a:xfrm>
            <a:off x="685800" y="3017520"/>
            <a:ext cx="6309360" cy="347472"/>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Customers</a:t>
            </a:r>
            <a:endParaRPr lang="en-US" sz="2000" dirty="0"/>
          </a:p>
        </p:txBody>
      </p:sp>
      <p:sp>
        <p:nvSpPr>
          <p:cNvPr id="8" name="Text 6"/>
          <p:cNvSpPr txBox="1"/>
          <p:nvPr/>
        </p:nvSpPr>
        <p:spPr>
          <a:xfrm>
            <a:off x="685800" y="3401568"/>
            <a:ext cx="6309360" cy="365760"/>
          </a:xfrm>
          <a:prstGeom prst="rect">
            <a:avLst/>
          </a:prstGeom>
          <a:noFill/>
          <a:ln/>
        </p:spPr>
        <p:txBody>
          <a:bodyPr wrap="square" lIns="0" tIns="0" rIns="0" bIns="0" rtlCol="0" anchor="t"/>
          <a:lstStyle/>
          <a:p>
            <a:pPr indent="0" marL="0">
              <a:buNone/>
            </a:pPr>
            <a:r>
              <a:rPr lang="en-US" sz="1700" dirty="0">
                <a:solidFill>
                  <a:srgbClr val="0B1220"/>
                </a:solidFill>
                <a:latin typeface="Calibri" pitchFamily="34" charset="0"/>
                <a:ea typeface="Calibri" pitchFamily="34" charset="-122"/>
                <a:cs typeface="Calibri" pitchFamily="34" charset="-120"/>
              </a:rPr>
              <a:t>A fix that's actually done, with proof, without repeating the story.</a:t>
            </a:r>
            <a:endParaRPr lang="en-US" sz="1700" dirty="0"/>
          </a:p>
        </p:txBody>
      </p:sp>
      <p:sp>
        <p:nvSpPr>
          <p:cNvPr id="9" name="Text 7"/>
          <p:cNvSpPr txBox="1"/>
          <p:nvPr/>
        </p:nvSpPr>
        <p:spPr>
          <a:xfrm>
            <a:off x="685800" y="3785616"/>
            <a:ext cx="630936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via verified actions and notifications</a:t>
            </a:r>
            <a:endParaRPr lang="en-US" sz="1300" dirty="0"/>
          </a:p>
        </p:txBody>
      </p:sp>
      <p:sp>
        <p:nvSpPr>
          <p:cNvPr id="10" name="Shape 8"/>
          <p:cNvSpPr/>
          <p:nvPr/>
        </p:nvSpPr>
        <p:spPr>
          <a:xfrm>
            <a:off x="685800" y="4206240"/>
            <a:ext cx="6309360" cy="0"/>
          </a:xfrm>
          <a:prstGeom prst="line">
            <a:avLst/>
          </a:prstGeom>
          <a:noFill/>
          <a:ln w="9525">
            <a:solidFill>
              <a:srgbClr val="D3DBE6"/>
            </a:solidFill>
            <a:prstDash val="solid"/>
          </a:ln>
        </p:spPr>
      </p:sp>
      <p:sp>
        <p:nvSpPr>
          <p:cNvPr id="11" name="Text 9"/>
          <p:cNvSpPr txBox="1"/>
          <p:nvPr/>
        </p:nvSpPr>
        <p:spPr>
          <a:xfrm>
            <a:off x="685800" y="4343400"/>
            <a:ext cx="6309360" cy="347472"/>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Managers and owners</a:t>
            </a:r>
            <a:endParaRPr lang="en-US" sz="2000" dirty="0"/>
          </a:p>
        </p:txBody>
      </p:sp>
      <p:sp>
        <p:nvSpPr>
          <p:cNvPr id="12" name="Text 10"/>
          <p:cNvSpPr txBox="1"/>
          <p:nvPr/>
        </p:nvSpPr>
        <p:spPr>
          <a:xfrm>
            <a:off x="685800" y="4727448"/>
            <a:ext cx="6309360" cy="365760"/>
          </a:xfrm>
          <a:prstGeom prst="rect">
            <a:avLst/>
          </a:prstGeom>
          <a:noFill/>
          <a:ln/>
        </p:spPr>
        <p:txBody>
          <a:bodyPr wrap="square" lIns="0" tIns="0" rIns="0" bIns="0" rtlCol="0" anchor="t"/>
          <a:lstStyle/>
          <a:p>
            <a:pPr indent="0" marL="0">
              <a:buNone/>
            </a:pPr>
            <a:r>
              <a:rPr lang="en-US" sz="1700" dirty="0">
                <a:solidFill>
                  <a:srgbClr val="0B1220"/>
                </a:solidFill>
                <a:latin typeface="Calibri" pitchFamily="34" charset="0"/>
                <a:ea typeface="Calibri" pitchFamily="34" charset="-122"/>
                <a:cs typeface="Calibri" pitchFamily="34" charset="-120"/>
              </a:rPr>
              <a:t>See what was resolved, escalated or failed, inside set limits.</a:t>
            </a:r>
            <a:endParaRPr lang="en-US" sz="1700" dirty="0"/>
          </a:p>
        </p:txBody>
      </p:sp>
      <p:sp>
        <p:nvSpPr>
          <p:cNvPr id="13" name="Text 11"/>
          <p:cNvSpPr txBox="1"/>
          <p:nvPr/>
        </p:nvSpPr>
        <p:spPr>
          <a:xfrm>
            <a:off x="685800" y="5111496"/>
            <a:ext cx="6309360" cy="27432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via audit log, policy gate, roles</a:t>
            </a:r>
            <a:endParaRPr lang="en-US" sz="1300" dirty="0"/>
          </a:p>
        </p:txBody>
      </p:sp>
      <p:sp>
        <p:nvSpPr>
          <p:cNvPr id="14" name="Text 12"/>
          <p:cNvSpPr txBox="1"/>
          <p:nvPr/>
        </p:nvSpPr>
        <p:spPr>
          <a:xfrm>
            <a:off x="685800" y="5715000"/>
            <a:ext cx="6309360" cy="457200"/>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Method: run a scripted case set with today's process, then the same set with Resolv, and compare from the audit log.</a:t>
            </a:r>
            <a:endParaRPr lang="en-US" sz="1300" dirty="0"/>
          </a:p>
        </p:txBody>
      </p:sp>
      <p:sp>
        <p:nvSpPr>
          <p:cNvPr id="15" name="Text 13"/>
          <p:cNvSpPr txBox="1"/>
          <p:nvPr/>
        </p:nvSpPr>
        <p:spPr>
          <a:xfrm>
            <a:off x="7543800" y="1691640"/>
            <a:ext cx="3962095" cy="347472"/>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Pilot metrics</a:t>
            </a:r>
            <a:endParaRPr lang="en-US" sz="2000" dirty="0"/>
          </a:p>
        </p:txBody>
      </p:sp>
      <p:sp>
        <p:nvSpPr>
          <p:cNvPr id="16" name="Text 14"/>
          <p:cNvSpPr txBox="1"/>
          <p:nvPr/>
        </p:nvSpPr>
        <p:spPr>
          <a:xfrm>
            <a:off x="7543800" y="2057400"/>
            <a:ext cx="3962095" cy="274320"/>
          </a:xfrm>
          <a:prstGeom prst="rect">
            <a:avLst/>
          </a:prstGeom>
          <a:noFill/>
          <a:ln/>
        </p:spPr>
        <p:txBody>
          <a:bodyPr wrap="square" lIns="0" tIns="0" rIns="0" bIns="0" rtlCol="0" anchor="t"/>
          <a:lstStyle/>
          <a:p>
            <a:pPr indent="0" marL="0">
              <a:buNone/>
            </a:pPr>
            <a:r>
              <a:rPr lang="en-US" sz="1300" b="1" dirty="0">
                <a:solidFill>
                  <a:srgbClr val="3B82F6"/>
                </a:solidFill>
                <a:latin typeface="Calibri" pitchFamily="34" charset="0"/>
                <a:ea typeface="Calibri" pitchFamily="34" charset="-122"/>
                <a:cs typeface="Calibri" pitchFamily="34" charset="-120"/>
              </a:rPr>
              <a:t>Proposed, not yet measured</a:t>
            </a:r>
            <a:endParaRPr lang="en-US" sz="1300" dirty="0"/>
          </a:p>
        </p:txBody>
      </p:sp>
      <p:sp>
        <p:nvSpPr>
          <p:cNvPr id="17" name="Shape 15"/>
          <p:cNvSpPr/>
          <p:nvPr/>
        </p:nvSpPr>
        <p:spPr>
          <a:xfrm>
            <a:off x="7543800" y="2450592"/>
            <a:ext cx="3962095" cy="0"/>
          </a:xfrm>
          <a:prstGeom prst="line">
            <a:avLst/>
          </a:prstGeom>
          <a:noFill/>
          <a:ln w="9525">
            <a:solidFill>
              <a:srgbClr val="D3DBE6"/>
            </a:solidFill>
            <a:prstDash val="solid"/>
          </a:ln>
        </p:spPr>
      </p:sp>
      <p:sp>
        <p:nvSpPr>
          <p:cNvPr id="18" name="Text 16"/>
          <p:cNvSpPr txBox="1"/>
          <p:nvPr/>
        </p:nvSpPr>
        <p:spPr>
          <a:xfrm>
            <a:off x="7543800" y="2542032"/>
            <a:ext cx="396209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Task completion rate</a:t>
            </a:r>
            <a:endParaRPr lang="en-US" sz="1500" dirty="0"/>
          </a:p>
        </p:txBody>
      </p:sp>
      <p:sp>
        <p:nvSpPr>
          <p:cNvPr id="19" name="Text 17"/>
          <p:cNvSpPr txBox="1"/>
          <p:nvPr/>
        </p:nvSpPr>
        <p:spPr>
          <a:xfrm>
            <a:off x="7543800" y="2807208"/>
            <a:ext cx="3962095" cy="246888"/>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cases closed by a verified action</a:t>
            </a:r>
            <a:endParaRPr lang="en-US" sz="1300" dirty="0"/>
          </a:p>
        </p:txBody>
      </p:sp>
      <p:sp>
        <p:nvSpPr>
          <p:cNvPr id="20" name="Shape 18"/>
          <p:cNvSpPr/>
          <p:nvPr/>
        </p:nvSpPr>
        <p:spPr>
          <a:xfrm>
            <a:off x="7543800" y="3090672"/>
            <a:ext cx="3962095" cy="0"/>
          </a:xfrm>
          <a:prstGeom prst="line">
            <a:avLst/>
          </a:prstGeom>
          <a:noFill/>
          <a:ln w="9525">
            <a:solidFill>
              <a:srgbClr val="D3DBE6"/>
            </a:solidFill>
            <a:prstDash val="solid"/>
          </a:ln>
        </p:spPr>
      </p:sp>
      <p:sp>
        <p:nvSpPr>
          <p:cNvPr id="21" name="Text 19"/>
          <p:cNvSpPr txBox="1"/>
          <p:nvPr/>
        </p:nvSpPr>
        <p:spPr>
          <a:xfrm>
            <a:off x="7543800" y="3145536"/>
            <a:ext cx="396209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Resolution time</a:t>
            </a:r>
            <a:endParaRPr lang="en-US" sz="1500" dirty="0"/>
          </a:p>
        </p:txBody>
      </p:sp>
      <p:sp>
        <p:nvSpPr>
          <p:cNvPr id="22" name="Text 20"/>
          <p:cNvSpPr txBox="1"/>
          <p:nvPr/>
        </p:nvSpPr>
        <p:spPr>
          <a:xfrm>
            <a:off x="7543800" y="3410712"/>
            <a:ext cx="3962095" cy="246888"/>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first message to verified outcome</a:t>
            </a:r>
            <a:endParaRPr lang="en-US" sz="1300" dirty="0"/>
          </a:p>
        </p:txBody>
      </p:sp>
      <p:sp>
        <p:nvSpPr>
          <p:cNvPr id="23" name="Shape 21"/>
          <p:cNvSpPr/>
          <p:nvPr/>
        </p:nvSpPr>
        <p:spPr>
          <a:xfrm>
            <a:off x="7543800" y="3694176"/>
            <a:ext cx="3962095" cy="0"/>
          </a:xfrm>
          <a:prstGeom prst="line">
            <a:avLst/>
          </a:prstGeom>
          <a:noFill/>
          <a:ln w="9525">
            <a:solidFill>
              <a:srgbClr val="D3DBE6"/>
            </a:solidFill>
            <a:prstDash val="solid"/>
          </a:ln>
        </p:spPr>
      </p:sp>
      <p:sp>
        <p:nvSpPr>
          <p:cNvPr id="24" name="Text 22"/>
          <p:cNvSpPr txBox="1"/>
          <p:nvPr/>
        </p:nvSpPr>
        <p:spPr>
          <a:xfrm>
            <a:off x="7543800" y="3749040"/>
            <a:ext cx="396209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First-contact resolution</a:t>
            </a:r>
            <a:endParaRPr lang="en-US" sz="1500" dirty="0"/>
          </a:p>
        </p:txBody>
      </p:sp>
      <p:sp>
        <p:nvSpPr>
          <p:cNvPr id="25" name="Text 23"/>
          <p:cNvSpPr txBox="1"/>
          <p:nvPr/>
        </p:nvSpPr>
        <p:spPr>
          <a:xfrm>
            <a:off x="7543800" y="4014216"/>
            <a:ext cx="3962095" cy="246888"/>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no repeat contact needed</a:t>
            </a:r>
            <a:endParaRPr lang="en-US" sz="1300" dirty="0"/>
          </a:p>
        </p:txBody>
      </p:sp>
      <p:sp>
        <p:nvSpPr>
          <p:cNvPr id="26" name="Shape 24"/>
          <p:cNvSpPr/>
          <p:nvPr/>
        </p:nvSpPr>
        <p:spPr>
          <a:xfrm>
            <a:off x="7543800" y="4297680"/>
            <a:ext cx="3962095" cy="0"/>
          </a:xfrm>
          <a:prstGeom prst="line">
            <a:avLst/>
          </a:prstGeom>
          <a:noFill/>
          <a:ln w="9525">
            <a:solidFill>
              <a:srgbClr val="D3DBE6"/>
            </a:solidFill>
            <a:prstDash val="solid"/>
          </a:ln>
        </p:spPr>
      </p:sp>
      <p:sp>
        <p:nvSpPr>
          <p:cNvPr id="27" name="Text 25"/>
          <p:cNvSpPr txBox="1"/>
          <p:nvPr/>
        </p:nvSpPr>
        <p:spPr>
          <a:xfrm>
            <a:off x="7543800" y="4352544"/>
            <a:ext cx="396209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Escalation rate</a:t>
            </a:r>
            <a:endParaRPr lang="en-US" sz="1500" dirty="0"/>
          </a:p>
        </p:txBody>
      </p:sp>
      <p:sp>
        <p:nvSpPr>
          <p:cNvPr id="28" name="Text 26"/>
          <p:cNvSpPr txBox="1"/>
          <p:nvPr/>
        </p:nvSpPr>
        <p:spPr>
          <a:xfrm>
            <a:off x="7543800" y="4617720"/>
            <a:ext cx="3962095" cy="246888"/>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share sent to an agent, with reason</a:t>
            </a:r>
            <a:endParaRPr lang="en-US" sz="1300" dirty="0"/>
          </a:p>
        </p:txBody>
      </p:sp>
      <p:sp>
        <p:nvSpPr>
          <p:cNvPr id="29" name="Shape 27"/>
          <p:cNvSpPr/>
          <p:nvPr/>
        </p:nvSpPr>
        <p:spPr>
          <a:xfrm>
            <a:off x="7543800" y="4901184"/>
            <a:ext cx="3962095" cy="0"/>
          </a:xfrm>
          <a:prstGeom prst="line">
            <a:avLst/>
          </a:prstGeom>
          <a:noFill/>
          <a:ln w="9525">
            <a:solidFill>
              <a:srgbClr val="D3DBE6"/>
            </a:solidFill>
            <a:prstDash val="solid"/>
          </a:ln>
        </p:spPr>
      </p:sp>
      <p:sp>
        <p:nvSpPr>
          <p:cNvPr id="30" name="Text 28"/>
          <p:cNvSpPr txBox="1"/>
          <p:nvPr/>
        </p:nvSpPr>
        <p:spPr>
          <a:xfrm>
            <a:off x="7543800" y="4956048"/>
            <a:ext cx="396209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Action success rate</a:t>
            </a:r>
            <a:endParaRPr lang="en-US" sz="1500" dirty="0"/>
          </a:p>
        </p:txBody>
      </p:sp>
      <p:sp>
        <p:nvSpPr>
          <p:cNvPr id="31" name="Text 29"/>
          <p:cNvSpPr txBox="1"/>
          <p:nvPr/>
        </p:nvSpPr>
        <p:spPr>
          <a:xfrm>
            <a:off x="7543800" y="5221224"/>
            <a:ext cx="3962095" cy="246888"/>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actions that pass their check</a:t>
            </a:r>
            <a:endParaRPr lang="en-US" sz="1300" dirty="0"/>
          </a:p>
        </p:txBody>
      </p:sp>
      <p:sp>
        <p:nvSpPr>
          <p:cNvPr id="32" name="Shape 30"/>
          <p:cNvSpPr/>
          <p:nvPr/>
        </p:nvSpPr>
        <p:spPr>
          <a:xfrm>
            <a:off x="7543800" y="5504688"/>
            <a:ext cx="3962095" cy="0"/>
          </a:xfrm>
          <a:prstGeom prst="line">
            <a:avLst/>
          </a:prstGeom>
          <a:noFill/>
          <a:ln w="9525">
            <a:solidFill>
              <a:srgbClr val="D3DBE6"/>
            </a:solidFill>
            <a:prstDash val="solid"/>
          </a:ln>
        </p:spPr>
      </p:sp>
      <p:sp>
        <p:nvSpPr>
          <p:cNvPr id="33" name="Text 31"/>
          <p:cNvSpPr txBox="1"/>
          <p:nvPr/>
        </p:nvSpPr>
        <p:spPr>
          <a:xfrm>
            <a:off x="7543800" y="5559552"/>
            <a:ext cx="3962095" cy="274320"/>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Record accuracy</a:t>
            </a:r>
            <a:endParaRPr lang="en-US" sz="1500" dirty="0"/>
          </a:p>
        </p:txBody>
      </p:sp>
      <p:sp>
        <p:nvSpPr>
          <p:cNvPr id="34" name="Text 32"/>
          <p:cNvSpPr txBox="1"/>
          <p:nvPr/>
        </p:nvSpPr>
        <p:spPr>
          <a:xfrm>
            <a:off x="7543800" y="5824728"/>
            <a:ext cx="3962095" cy="246888"/>
          </a:xfrm>
          <a:prstGeom prst="rect">
            <a:avLst/>
          </a:prstGeom>
          <a:noFill/>
          <a:ln/>
        </p:spPr>
        <p:txBody>
          <a:bodyPr wrap="square" lIns="0" tIns="0" rIns="0" bIns="0" rtlCol="0" anchor="t"/>
          <a:lstStyle/>
          <a:p>
            <a:pPr indent="0" marL="0">
              <a:buNone/>
            </a:pPr>
            <a:r>
              <a:rPr lang="en-US" sz="1300" dirty="0">
                <a:solidFill>
                  <a:srgbClr val="4B5A70"/>
                </a:solidFill>
                <a:latin typeface="Calibri" pitchFamily="34" charset="0"/>
                <a:ea typeface="Calibri" pitchFamily="34" charset="-122"/>
                <a:cs typeface="Calibri" pitchFamily="34" charset="-120"/>
              </a:rPr>
              <a:t>fields correct on an audit sample</a:t>
            </a:r>
            <a:endParaRPr lang="en-US" sz="1300" dirty="0"/>
          </a:p>
        </p:txBody>
      </p:sp>
      <p:sp>
        <p:nvSpPr>
          <p:cNvPr id="35" name="Shape 33"/>
          <p:cNvSpPr/>
          <p:nvPr/>
        </p:nvSpPr>
        <p:spPr>
          <a:xfrm>
            <a:off x="7543800" y="6108192"/>
            <a:ext cx="3962095" cy="0"/>
          </a:xfrm>
          <a:prstGeom prst="line">
            <a:avLst/>
          </a:prstGeom>
          <a:noFill/>
          <a:ln w="9525">
            <a:solidFill>
              <a:srgbClr val="D3DBE6"/>
            </a:solidFill>
            <a:prstDash val="solid"/>
          </a:ln>
        </p:spPr>
      </p:sp>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85800" y="502920"/>
            <a:ext cx="10820095" cy="685800"/>
          </a:xfrm>
          <a:prstGeom prst="rect">
            <a:avLst/>
          </a:prstGeom>
          <a:noFill/>
          <a:ln/>
        </p:spPr>
        <p:txBody>
          <a:bodyPr wrap="square" lIns="0" tIns="0" rIns="0" bIns="0" rtlCol="0" anchor="t"/>
          <a:lstStyle/>
          <a:p>
            <a:pPr algn="l" indent="0" marL="0">
              <a:buNone/>
            </a:pPr>
            <a:r>
              <a:rPr lang="en-US" sz="3200" b="1" dirty="0">
                <a:solidFill>
                  <a:srgbClr val="0B1220"/>
                </a:solidFill>
                <a:latin typeface="Calibri" pitchFamily="34" charset="0"/>
                <a:ea typeface="Calibri" pitchFamily="34" charset="-122"/>
                <a:cs typeface="Calibri" pitchFamily="34" charset="-120"/>
              </a:rPr>
              <a:t>Start narrow, prove the outcome, then scale.</a:t>
            </a:r>
            <a:endParaRPr lang="en-US" sz="3200" dirty="0"/>
          </a:p>
        </p:txBody>
      </p:sp>
      <p:sp>
        <p:nvSpPr>
          <p:cNvPr id="3" name="Shape 1"/>
          <p:cNvSpPr/>
          <p:nvPr/>
        </p:nvSpPr>
        <p:spPr>
          <a:xfrm>
            <a:off x="685800" y="1783080"/>
            <a:ext cx="10820095" cy="0"/>
          </a:xfrm>
          <a:prstGeom prst="line">
            <a:avLst/>
          </a:prstGeom>
          <a:noFill/>
          <a:ln w="15875">
            <a:solidFill>
              <a:srgbClr val="94A3B8"/>
            </a:solidFill>
            <a:prstDash val="solid"/>
            <a:tailEnd type="triangle"/>
          </a:ln>
        </p:spPr>
      </p:sp>
      <p:sp>
        <p:nvSpPr>
          <p:cNvPr id="4" name="Shape 2"/>
          <p:cNvSpPr/>
          <p:nvPr/>
        </p:nvSpPr>
        <p:spPr>
          <a:xfrm>
            <a:off x="685800" y="1700784"/>
            <a:ext cx="164592" cy="164592"/>
          </a:xfrm>
          <a:prstGeom prst="ellipse">
            <a:avLst/>
          </a:prstGeom>
          <a:solidFill>
            <a:srgbClr val="3B82F6"/>
          </a:solidFill>
          <a:ln w="22225">
            <a:solidFill>
              <a:srgbClr val="3B82F6"/>
            </a:solidFill>
            <a:prstDash val="solid"/>
          </a:ln>
        </p:spPr>
      </p:sp>
      <p:sp>
        <p:nvSpPr>
          <p:cNvPr id="5" name="Text 3"/>
          <p:cNvSpPr txBox="1"/>
          <p:nvPr/>
        </p:nvSpPr>
        <p:spPr>
          <a:xfrm>
            <a:off x="685800" y="2011680"/>
            <a:ext cx="2430704" cy="320040"/>
          </a:xfrm>
          <a:prstGeom prst="rect">
            <a:avLst/>
          </a:prstGeom>
          <a:noFill/>
          <a:ln/>
        </p:spPr>
        <p:txBody>
          <a:bodyPr wrap="square" lIns="0" tIns="0" rIns="0" bIns="0" rtlCol="0" anchor="t"/>
          <a:lstStyle/>
          <a:p>
            <a:pPr indent="0" marL="0">
              <a:buNone/>
            </a:pPr>
            <a:r>
              <a:rPr lang="en-US" sz="2000" b="1" dirty="0">
                <a:solidFill>
                  <a:srgbClr val="3B82F6"/>
                </a:solidFill>
                <a:latin typeface="Calibri" pitchFamily="34" charset="0"/>
                <a:ea typeface="Calibri" pitchFamily="34" charset="-122"/>
                <a:cs typeface="Calibri" pitchFamily="34" charset="-120"/>
              </a:rPr>
              <a:t>MVP</a:t>
            </a:r>
            <a:endParaRPr lang="en-US" sz="2000" dirty="0"/>
          </a:p>
        </p:txBody>
      </p:sp>
      <p:sp>
        <p:nvSpPr>
          <p:cNvPr id="6" name="Text 4"/>
          <p:cNvSpPr txBox="1"/>
          <p:nvPr/>
        </p:nvSpPr>
        <p:spPr>
          <a:xfrm>
            <a:off x="685800" y="2377440"/>
            <a:ext cx="2384984" cy="73152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Damaged and missing items, on mock store APIs</a:t>
            </a:r>
            <a:endParaRPr lang="en-US" sz="1500" dirty="0"/>
          </a:p>
        </p:txBody>
      </p:sp>
      <p:sp>
        <p:nvSpPr>
          <p:cNvPr id="7" name="Shape 5"/>
          <p:cNvSpPr/>
          <p:nvPr/>
        </p:nvSpPr>
        <p:spPr>
          <a:xfrm>
            <a:off x="3390824" y="1700784"/>
            <a:ext cx="164592" cy="164592"/>
          </a:xfrm>
          <a:prstGeom prst="ellipse">
            <a:avLst/>
          </a:prstGeom>
          <a:solidFill>
            <a:srgbClr val="FFFFFF"/>
          </a:solidFill>
          <a:ln w="22225">
            <a:solidFill>
              <a:srgbClr val="3B82F6"/>
            </a:solidFill>
            <a:prstDash val="solid"/>
          </a:ln>
        </p:spPr>
      </p:sp>
      <p:sp>
        <p:nvSpPr>
          <p:cNvPr id="8" name="Text 6"/>
          <p:cNvSpPr txBox="1"/>
          <p:nvPr/>
        </p:nvSpPr>
        <p:spPr>
          <a:xfrm>
            <a:off x="3390824" y="2011680"/>
            <a:ext cx="2430704" cy="320040"/>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Pilot</a:t>
            </a:r>
            <a:endParaRPr lang="en-US" sz="2000" dirty="0"/>
          </a:p>
        </p:txBody>
      </p:sp>
      <p:sp>
        <p:nvSpPr>
          <p:cNvPr id="9" name="Text 7"/>
          <p:cNvSpPr txBox="1"/>
          <p:nvPr/>
        </p:nvSpPr>
        <p:spPr>
          <a:xfrm>
            <a:off x="3390824" y="2377440"/>
            <a:ext cx="2384984" cy="73152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One brand's helpdesk, measured against a baseline</a:t>
            </a:r>
            <a:endParaRPr lang="en-US" sz="1500" dirty="0"/>
          </a:p>
        </p:txBody>
      </p:sp>
      <p:sp>
        <p:nvSpPr>
          <p:cNvPr id="10" name="Shape 8"/>
          <p:cNvSpPr/>
          <p:nvPr/>
        </p:nvSpPr>
        <p:spPr>
          <a:xfrm>
            <a:off x="6095848" y="1700784"/>
            <a:ext cx="164592" cy="164592"/>
          </a:xfrm>
          <a:prstGeom prst="ellipse">
            <a:avLst/>
          </a:prstGeom>
          <a:solidFill>
            <a:srgbClr val="FFFFFF"/>
          </a:solidFill>
          <a:ln w="22225">
            <a:solidFill>
              <a:srgbClr val="3B82F6"/>
            </a:solidFill>
            <a:prstDash val="solid"/>
          </a:ln>
        </p:spPr>
      </p:sp>
      <p:sp>
        <p:nvSpPr>
          <p:cNvPr id="11" name="Text 9"/>
          <p:cNvSpPr txBox="1"/>
          <p:nvPr/>
        </p:nvSpPr>
        <p:spPr>
          <a:xfrm>
            <a:off x="6095848" y="2011680"/>
            <a:ext cx="2430704" cy="320040"/>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Production</a:t>
            </a:r>
            <a:endParaRPr lang="en-US" sz="2000" dirty="0"/>
          </a:p>
        </p:txBody>
      </p:sp>
      <p:sp>
        <p:nvSpPr>
          <p:cNvPr id="12" name="Text 10"/>
          <p:cNvSpPr txBox="1"/>
          <p:nvPr/>
        </p:nvSpPr>
        <p:spPr>
          <a:xfrm>
            <a:off x="6095848" y="2377440"/>
            <a:ext cx="2384984" cy="73152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SSO, roles, retries and monitoring</a:t>
            </a:r>
            <a:endParaRPr lang="en-US" sz="1500" dirty="0"/>
          </a:p>
        </p:txBody>
      </p:sp>
      <p:sp>
        <p:nvSpPr>
          <p:cNvPr id="13" name="Shape 11"/>
          <p:cNvSpPr/>
          <p:nvPr/>
        </p:nvSpPr>
        <p:spPr>
          <a:xfrm>
            <a:off x="8800871" y="1700784"/>
            <a:ext cx="164592" cy="164592"/>
          </a:xfrm>
          <a:prstGeom prst="ellipse">
            <a:avLst/>
          </a:prstGeom>
          <a:solidFill>
            <a:srgbClr val="FFFFFF"/>
          </a:solidFill>
          <a:ln w="22225">
            <a:solidFill>
              <a:srgbClr val="3B82F6"/>
            </a:solidFill>
            <a:prstDash val="solid"/>
          </a:ln>
        </p:spPr>
      </p:sp>
      <p:sp>
        <p:nvSpPr>
          <p:cNvPr id="14" name="Text 12"/>
          <p:cNvSpPr txBox="1"/>
          <p:nvPr/>
        </p:nvSpPr>
        <p:spPr>
          <a:xfrm>
            <a:off x="8800871" y="2011680"/>
            <a:ext cx="2430704" cy="320040"/>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Scale</a:t>
            </a:r>
            <a:endParaRPr lang="en-US" sz="2000" dirty="0"/>
          </a:p>
        </p:txBody>
      </p:sp>
      <p:sp>
        <p:nvSpPr>
          <p:cNvPr id="15" name="Text 13"/>
          <p:cNvSpPr txBox="1"/>
          <p:nvPr/>
        </p:nvSpPr>
        <p:spPr>
          <a:xfrm>
            <a:off x="8800871" y="2377440"/>
            <a:ext cx="2384984" cy="731520"/>
          </a:xfrm>
          <a:prstGeom prst="rect">
            <a:avLst/>
          </a:prstGeom>
          <a:noFill/>
          <a:ln/>
        </p:spPr>
        <p:txBody>
          <a:bodyPr wrap="square" lIns="0" tIns="0" rIns="0" bIns="0" rtlCol="0" anchor="t"/>
          <a:lstStyle/>
          <a:p>
            <a:pPr indent="0" marL="0">
              <a:buNone/>
            </a:pPr>
            <a:r>
              <a:rPr lang="en-US" sz="1500" dirty="0">
                <a:solidFill>
                  <a:srgbClr val="0B1220"/>
                </a:solidFill>
                <a:latin typeface="Calibri" pitchFamily="34" charset="0"/>
                <a:ea typeface="Calibri" pitchFamily="34" charset="-122"/>
                <a:cs typeface="Calibri" pitchFamily="34" charset="-120"/>
              </a:rPr>
              <a:t>Multi-tenant SaaS and more workflows</a:t>
            </a:r>
            <a:endParaRPr lang="en-US" sz="1500" dirty="0"/>
          </a:p>
        </p:txBody>
      </p:sp>
      <p:sp>
        <p:nvSpPr>
          <p:cNvPr id="16" name="Text 14"/>
          <p:cNvSpPr txBox="1"/>
          <p:nvPr/>
        </p:nvSpPr>
        <p:spPr>
          <a:xfrm>
            <a:off x="685800" y="3291840"/>
            <a:ext cx="10820095" cy="292608"/>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Go-to-market  </a:t>
            </a:r>
            <a:pPr indent="0" marL="0">
              <a:buNone/>
            </a:pPr>
            <a:r>
              <a:rPr lang="en-US" sz="1500" dirty="0">
                <a:solidFill>
                  <a:srgbClr val="4B5A70"/>
                </a:solidFill>
                <a:latin typeface="Calibri" pitchFamily="34" charset="0"/>
                <a:ea typeface="Calibri" pitchFamily="34" charset="-122"/>
                <a:cs typeface="Calibri" pitchFamily="34" charset="-120"/>
              </a:rPr>
              <a:t>D2C e-commerce brands first  →  controlled pilot  →  measured ROI  →  more workflows</a:t>
            </a:r>
            <a:endParaRPr lang="en-US" sz="1500" dirty="0"/>
          </a:p>
        </p:txBody>
      </p:sp>
      <p:sp>
        <p:nvSpPr>
          <p:cNvPr id="17" name="Text 15"/>
          <p:cNvSpPr txBox="1"/>
          <p:nvPr/>
        </p:nvSpPr>
        <p:spPr>
          <a:xfrm>
            <a:off x="685800" y="3977640"/>
            <a:ext cx="6035040" cy="347472"/>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Revenue model</a:t>
            </a:r>
            <a:pPr indent="0" marL="0">
              <a:buNone/>
            </a:pPr>
            <a:r>
              <a:rPr lang="en-US" sz="1300" dirty="0">
                <a:solidFill>
                  <a:srgbClr val="4B5A70"/>
                </a:solidFill>
                <a:latin typeface="Calibri" pitchFamily="34" charset="0"/>
                <a:ea typeface="Calibri" pitchFamily="34" charset="-122"/>
                <a:cs typeface="Calibri" pitchFamily="34" charset="-120"/>
              </a:rPr>
              <a:t>   hypothesis; pricing not yet validated</a:t>
            </a:r>
            <a:endParaRPr lang="en-US" sz="2000" dirty="0"/>
          </a:p>
        </p:txBody>
      </p:sp>
      <p:sp>
        <p:nvSpPr>
          <p:cNvPr id="18" name="Shape 16"/>
          <p:cNvSpPr/>
          <p:nvPr/>
        </p:nvSpPr>
        <p:spPr>
          <a:xfrm>
            <a:off x="685800" y="4434840"/>
            <a:ext cx="6035040" cy="0"/>
          </a:xfrm>
          <a:prstGeom prst="line">
            <a:avLst/>
          </a:prstGeom>
          <a:noFill/>
          <a:ln w="9525">
            <a:solidFill>
              <a:srgbClr val="D3DBE6"/>
            </a:solidFill>
            <a:prstDash val="solid"/>
          </a:ln>
        </p:spPr>
      </p:sp>
      <p:sp>
        <p:nvSpPr>
          <p:cNvPr id="19" name="Text 17"/>
          <p:cNvSpPr txBox="1"/>
          <p:nvPr/>
        </p:nvSpPr>
        <p:spPr>
          <a:xfrm>
            <a:off x="685800" y="4507992"/>
            <a:ext cx="2286000" cy="347472"/>
          </a:xfrm>
          <a:prstGeom prst="rect">
            <a:avLst/>
          </a:prstGeom>
          <a:noFill/>
          <a:ln/>
        </p:spPr>
        <p:txBody>
          <a:bodyPr wrap="square" lIns="0" tIns="0" rIns="0" bIns="0" rtlCol="0" anchor="ctr"/>
          <a:lstStyle/>
          <a:p>
            <a:pPr indent="0" marL="0">
              <a:buNone/>
            </a:pPr>
            <a:r>
              <a:rPr lang="en-US" sz="1500" b="1" dirty="0">
                <a:solidFill>
                  <a:srgbClr val="0B1220"/>
                </a:solidFill>
                <a:latin typeface="Calibri" pitchFamily="34" charset="0"/>
                <a:ea typeface="Calibri" pitchFamily="34" charset="-122"/>
                <a:cs typeface="Calibri" pitchFamily="34" charset="-120"/>
              </a:rPr>
              <a:t>Subscription</a:t>
            </a:r>
            <a:endParaRPr lang="en-US" sz="1500" dirty="0"/>
          </a:p>
        </p:txBody>
      </p:sp>
      <p:sp>
        <p:nvSpPr>
          <p:cNvPr id="20" name="Text 18"/>
          <p:cNvSpPr txBox="1"/>
          <p:nvPr/>
        </p:nvSpPr>
        <p:spPr>
          <a:xfrm>
            <a:off x="3017520" y="4507992"/>
            <a:ext cx="3703320" cy="347472"/>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by agent seats and monthly case volume</a:t>
            </a:r>
            <a:endParaRPr lang="en-US" sz="1500" dirty="0"/>
          </a:p>
        </p:txBody>
      </p:sp>
      <p:sp>
        <p:nvSpPr>
          <p:cNvPr id="21" name="Shape 19"/>
          <p:cNvSpPr/>
          <p:nvPr/>
        </p:nvSpPr>
        <p:spPr>
          <a:xfrm>
            <a:off x="685800" y="4901184"/>
            <a:ext cx="6035040" cy="0"/>
          </a:xfrm>
          <a:prstGeom prst="line">
            <a:avLst/>
          </a:prstGeom>
          <a:noFill/>
          <a:ln w="9525">
            <a:solidFill>
              <a:srgbClr val="D3DBE6"/>
            </a:solidFill>
            <a:prstDash val="solid"/>
          </a:ln>
        </p:spPr>
      </p:sp>
      <p:sp>
        <p:nvSpPr>
          <p:cNvPr id="22" name="Text 20"/>
          <p:cNvSpPr txBox="1"/>
          <p:nvPr/>
        </p:nvSpPr>
        <p:spPr>
          <a:xfrm>
            <a:off x="685800" y="4937760"/>
            <a:ext cx="2286000" cy="347472"/>
          </a:xfrm>
          <a:prstGeom prst="rect">
            <a:avLst/>
          </a:prstGeom>
          <a:noFill/>
          <a:ln/>
        </p:spPr>
        <p:txBody>
          <a:bodyPr wrap="square" lIns="0" tIns="0" rIns="0" bIns="0" rtlCol="0" anchor="ctr"/>
          <a:lstStyle/>
          <a:p>
            <a:pPr indent="0" marL="0">
              <a:buNone/>
            </a:pPr>
            <a:r>
              <a:rPr lang="en-US" sz="1500" b="1" dirty="0">
                <a:solidFill>
                  <a:srgbClr val="0B1220"/>
                </a:solidFill>
                <a:latin typeface="Calibri" pitchFamily="34" charset="0"/>
                <a:ea typeface="Calibri" pitchFamily="34" charset="-122"/>
                <a:cs typeface="Calibri" pitchFamily="34" charset="-120"/>
              </a:rPr>
              <a:t>Per verified resolution</a:t>
            </a:r>
            <a:endParaRPr lang="en-US" sz="1500" dirty="0"/>
          </a:p>
        </p:txBody>
      </p:sp>
      <p:sp>
        <p:nvSpPr>
          <p:cNvPr id="23" name="Text 21"/>
          <p:cNvSpPr txBox="1"/>
          <p:nvPr/>
        </p:nvSpPr>
        <p:spPr>
          <a:xfrm>
            <a:off x="3017520" y="4937760"/>
            <a:ext cx="3703320" cy="347472"/>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charged only when an action passes its check</a:t>
            </a:r>
            <a:endParaRPr lang="en-US" sz="1500" dirty="0"/>
          </a:p>
        </p:txBody>
      </p:sp>
      <p:sp>
        <p:nvSpPr>
          <p:cNvPr id="24" name="Shape 22"/>
          <p:cNvSpPr/>
          <p:nvPr/>
        </p:nvSpPr>
        <p:spPr>
          <a:xfrm>
            <a:off x="685800" y="5330952"/>
            <a:ext cx="6035040" cy="0"/>
          </a:xfrm>
          <a:prstGeom prst="line">
            <a:avLst/>
          </a:prstGeom>
          <a:noFill/>
          <a:ln w="9525">
            <a:solidFill>
              <a:srgbClr val="D3DBE6"/>
            </a:solidFill>
            <a:prstDash val="solid"/>
          </a:ln>
        </p:spPr>
      </p:sp>
      <p:sp>
        <p:nvSpPr>
          <p:cNvPr id="25" name="Text 23"/>
          <p:cNvSpPr txBox="1"/>
          <p:nvPr/>
        </p:nvSpPr>
        <p:spPr>
          <a:xfrm>
            <a:off x="685800" y="5367528"/>
            <a:ext cx="2286000" cy="347472"/>
          </a:xfrm>
          <a:prstGeom prst="rect">
            <a:avLst/>
          </a:prstGeom>
          <a:noFill/>
          <a:ln/>
        </p:spPr>
        <p:txBody>
          <a:bodyPr wrap="square" lIns="0" tIns="0" rIns="0" bIns="0" rtlCol="0" anchor="ctr"/>
          <a:lstStyle/>
          <a:p>
            <a:pPr indent="0" marL="0">
              <a:buNone/>
            </a:pPr>
            <a:r>
              <a:rPr lang="en-US" sz="1500" b="1" dirty="0">
                <a:solidFill>
                  <a:srgbClr val="0B1220"/>
                </a:solidFill>
                <a:latin typeface="Calibri" pitchFamily="34" charset="0"/>
                <a:ea typeface="Calibri" pitchFamily="34" charset="-122"/>
                <a:cs typeface="Calibri" pitchFamily="34" charset="-120"/>
              </a:rPr>
              <a:t>Onboarding</a:t>
            </a:r>
            <a:endParaRPr lang="en-US" sz="1500" dirty="0"/>
          </a:p>
        </p:txBody>
      </p:sp>
      <p:sp>
        <p:nvSpPr>
          <p:cNvPr id="26" name="Text 24"/>
          <p:cNvSpPr txBox="1"/>
          <p:nvPr/>
        </p:nvSpPr>
        <p:spPr>
          <a:xfrm>
            <a:off x="3017520" y="5367528"/>
            <a:ext cx="3703320" cy="347472"/>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paid store and helpdesk setup</a:t>
            </a:r>
            <a:endParaRPr lang="en-US" sz="1500" dirty="0"/>
          </a:p>
        </p:txBody>
      </p:sp>
      <p:sp>
        <p:nvSpPr>
          <p:cNvPr id="27" name="Shape 25"/>
          <p:cNvSpPr/>
          <p:nvPr/>
        </p:nvSpPr>
        <p:spPr>
          <a:xfrm>
            <a:off x="685800" y="5760720"/>
            <a:ext cx="6035040" cy="0"/>
          </a:xfrm>
          <a:prstGeom prst="line">
            <a:avLst/>
          </a:prstGeom>
          <a:noFill/>
          <a:ln w="9525">
            <a:solidFill>
              <a:srgbClr val="D3DBE6"/>
            </a:solidFill>
            <a:prstDash val="solid"/>
          </a:ln>
        </p:spPr>
      </p:sp>
      <p:sp>
        <p:nvSpPr>
          <p:cNvPr id="28" name="Text 26"/>
          <p:cNvSpPr txBox="1"/>
          <p:nvPr/>
        </p:nvSpPr>
        <p:spPr>
          <a:xfrm>
            <a:off x="685800" y="5797296"/>
            <a:ext cx="2286000" cy="347472"/>
          </a:xfrm>
          <a:prstGeom prst="rect">
            <a:avLst/>
          </a:prstGeom>
          <a:noFill/>
          <a:ln/>
        </p:spPr>
        <p:txBody>
          <a:bodyPr wrap="square" lIns="0" tIns="0" rIns="0" bIns="0" rtlCol="0" anchor="ctr"/>
          <a:lstStyle/>
          <a:p>
            <a:pPr indent="0" marL="0">
              <a:buNone/>
            </a:pPr>
            <a:r>
              <a:rPr lang="en-US" sz="1500" b="1" dirty="0">
                <a:solidFill>
                  <a:srgbClr val="0B1220"/>
                </a:solidFill>
                <a:latin typeface="Calibri" pitchFamily="34" charset="0"/>
                <a:ea typeface="Calibri" pitchFamily="34" charset="-122"/>
                <a:cs typeface="Calibri" pitchFamily="34" charset="-120"/>
              </a:rPr>
              <a:t>Enterprise</a:t>
            </a:r>
            <a:endParaRPr lang="en-US" sz="1500" dirty="0"/>
          </a:p>
        </p:txBody>
      </p:sp>
      <p:sp>
        <p:nvSpPr>
          <p:cNvPr id="29" name="Text 27"/>
          <p:cNvSpPr txBox="1"/>
          <p:nvPr/>
        </p:nvSpPr>
        <p:spPr>
          <a:xfrm>
            <a:off x="3017520" y="5797296"/>
            <a:ext cx="3703320" cy="347472"/>
          </a:xfrm>
          <a:prstGeom prst="rect">
            <a:avLst/>
          </a:prstGeom>
          <a:noFill/>
          <a:ln/>
        </p:spPr>
        <p:txBody>
          <a:bodyPr wrap="square" lIns="0" tIns="0" rIns="0" bIns="0" rtlCol="0" anchor="ctr"/>
          <a:lstStyle/>
          <a:p>
            <a:pPr indent="0" marL="0">
              <a:buNone/>
            </a:pPr>
            <a:r>
              <a:rPr lang="en-US" sz="1500" dirty="0">
                <a:solidFill>
                  <a:srgbClr val="0B1220"/>
                </a:solidFill>
                <a:latin typeface="Calibri" pitchFamily="34" charset="0"/>
                <a:ea typeface="Calibri" pitchFamily="34" charset="-122"/>
                <a:cs typeface="Calibri" pitchFamily="34" charset="-120"/>
              </a:rPr>
              <a:t>private deployment, governance, support</a:t>
            </a:r>
            <a:endParaRPr lang="en-US" sz="1500" dirty="0"/>
          </a:p>
        </p:txBody>
      </p:sp>
      <p:sp>
        <p:nvSpPr>
          <p:cNvPr id="30" name="Shape 28"/>
          <p:cNvSpPr/>
          <p:nvPr/>
        </p:nvSpPr>
        <p:spPr>
          <a:xfrm>
            <a:off x="685800" y="6190488"/>
            <a:ext cx="6035040" cy="0"/>
          </a:xfrm>
          <a:prstGeom prst="line">
            <a:avLst/>
          </a:prstGeom>
          <a:noFill/>
          <a:ln w="9525">
            <a:solidFill>
              <a:srgbClr val="D3DBE6"/>
            </a:solidFill>
            <a:prstDash val="solid"/>
          </a:ln>
        </p:spPr>
      </p:sp>
      <p:sp>
        <p:nvSpPr>
          <p:cNvPr id="31" name="Text 29"/>
          <p:cNvSpPr txBox="1"/>
          <p:nvPr/>
        </p:nvSpPr>
        <p:spPr>
          <a:xfrm>
            <a:off x="7360920" y="3977640"/>
            <a:ext cx="4144975" cy="347472"/>
          </a:xfrm>
          <a:prstGeom prst="rect">
            <a:avLst/>
          </a:prstGeom>
          <a:noFill/>
          <a:ln/>
        </p:spPr>
        <p:txBody>
          <a:bodyPr wrap="square" lIns="0" tIns="0" rIns="0" bIns="0" rtlCol="0" anchor="t"/>
          <a:lstStyle/>
          <a:p>
            <a:pPr indent="0" marL="0">
              <a:buNone/>
            </a:pPr>
            <a:r>
              <a:rPr lang="en-US" sz="2000" b="1" dirty="0">
                <a:solidFill>
                  <a:srgbClr val="0B1220"/>
                </a:solidFill>
                <a:latin typeface="Calibri" pitchFamily="34" charset="0"/>
                <a:ea typeface="Calibri" pitchFamily="34" charset="-122"/>
                <a:cs typeface="Calibri" pitchFamily="34" charset="-120"/>
              </a:rPr>
              <a:t>Next, by theme</a:t>
            </a:r>
            <a:endParaRPr lang="en-US" sz="2000" dirty="0"/>
          </a:p>
        </p:txBody>
      </p:sp>
      <p:sp>
        <p:nvSpPr>
          <p:cNvPr id="32" name="Shape 30"/>
          <p:cNvSpPr/>
          <p:nvPr/>
        </p:nvSpPr>
        <p:spPr>
          <a:xfrm>
            <a:off x="7360920" y="4434840"/>
            <a:ext cx="4144975" cy="0"/>
          </a:xfrm>
          <a:prstGeom prst="line">
            <a:avLst/>
          </a:prstGeom>
          <a:noFill/>
          <a:ln w="9525">
            <a:solidFill>
              <a:srgbClr val="D3DBE6"/>
            </a:solidFill>
            <a:prstDash val="solid"/>
          </a:ln>
        </p:spPr>
      </p:sp>
      <p:sp>
        <p:nvSpPr>
          <p:cNvPr id="33" name="Text 31"/>
          <p:cNvSpPr txBox="1"/>
          <p:nvPr/>
        </p:nvSpPr>
        <p:spPr>
          <a:xfrm>
            <a:off x="7360920" y="4507992"/>
            <a:ext cx="4144975" cy="530352"/>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Channels</a:t>
            </a:r>
            <a:endParaRPr lang="en-US" sz="1500" dirty="0"/>
          </a:p>
          <a:p>
            <a:pPr indent="0" marL="0">
              <a:buNone/>
            </a:pPr>
            <a:r>
              <a:rPr lang="en-US" sz="1500" dirty="0">
                <a:solidFill>
                  <a:srgbClr val="4B5A70"/>
                </a:solidFill>
                <a:latin typeface="Calibri" pitchFamily="34" charset="0"/>
                <a:ea typeface="Calibri" pitchFamily="34" charset="-122"/>
                <a:cs typeface="Calibri" pitchFamily="34" charset="-120"/>
              </a:rPr>
              <a:t>WhatsApp, email, voice</a:t>
            </a:r>
            <a:endParaRPr lang="en-US" sz="1500" dirty="0"/>
          </a:p>
        </p:txBody>
      </p:sp>
      <p:sp>
        <p:nvSpPr>
          <p:cNvPr id="34" name="Shape 32"/>
          <p:cNvSpPr/>
          <p:nvPr/>
        </p:nvSpPr>
        <p:spPr>
          <a:xfrm>
            <a:off x="7360920" y="5056632"/>
            <a:ext cx="4144975" cy="0"/>
          </a:xfrm>
          <a:prstGeom prst="line">
            <a:avLst/>
          </a:prstGeom>
          <a:noFill/>
          <a:ln w="9525">
            <a:solidFill>
              <a:srgbClr val="D3DBE6"/>
            </a:solidFill>
            <a:prstDash val="solid"/>
          </a:ln>
        </p:spPr>
      </p:sp>
      <p:sp>
        <p:nvSpPr>
          <p:cNvPr id="35" name="Text 33"/>
          <p:cNvSpPr txBox="1"/>
          <p:nvPr/>
        </p:nvSpPr>
        <p:spPr>
          <a:xfrm>
            <a:off x="7360920" y="5084064"/>
            <a:ext cx="4144975" cy="530352"/>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Integrations</a:t>
            </a:r>
            <a:endParaRPr lang="en-US" sz="1500" dirty="0"/>
          </a:p>
          <a:p>
            <a:pPr indent="0" marL="0">
              <a:buNone/>
            </a:pPr>
            <a:r>
              <a:rPr lang="en-US" sz="1500" dirty="0">
                <a:solidFill>
                  <a:srgbClr val="4B5A70"/>
                </a:solidFill>
                <a:latin typeface="Calibri" pitchFamily="34" charset="0"/>
                <a:ea typeface="Calibri" pitchFamily="34" charset="-122"/>
                <a:cs typeface="Calibri" pitchFamily="34" charset="-120"/>
              </a:rPr>
              <a:t>Shopify, Zendesk, Freshdesk</a:t>
            </a:r>
            <a:endParaRPr lang="en-US" sz="1500" dirty="0"/>
          </a:p>
        </p:txBody>
      </p:sp>
      <p:sp>
        <p:nvSpPr>
          <p:cNvPr id="36" name="Shape 34"/>
          <p:cNvSpPr/>
          <p:nvPr/>
        </p:nvSpPr>
        <p:spPr>
          <a:xfrm>
            <a:off x="7360920" y="5632704"/>
            <a:ext cx="4144975" cy="0"/>
          </a:xfrm>
          <a:prstGeom prst="line">
            <a:avLst/>
          </a:prstGeom>
          <a:noFill/>
          <a:ln w="9525">
            <a:solidFill>
              <a:srgbClr val="D3DBE6"/>
            </a:solidFill>
            <a:prstDash val="solid"/>
          </a:ln>
        </p:spPr>
      </p:sp>
      <p:sp>
        <p:nvSpPr>
          <p:cNvPr id="37" name="Text 35"/>
          <p:cNvSpPr txBox="1"/>
          <p:nvPr/>
        </p:nvSpPr>
        <p:spPr>
          <a:xfrm>
            <a:off x="7360920" y="5660136"/>
            <a:ext cx="4144975" cy="530352"/>
          </a:xfrm>
          <a:prstGeom prst="rect">
            <a:avLst/>
          </a:prstGeom>
          <a:noFill/>
          <a:ln/>
        </p:spPr>
        <p:txBody>
          <a:bodyPr wrap="square" lIns="0" tIns="0" rIns="0" bIns="0" rtlCol="0" anchor="t"/>
          <a:lstStyle/>
          <a:p>
            <a:pPr indent="0" marL="0">
              <a:buNone/>
            </a:pPr>
            <a:r>
              <a:rPr lang="en-US" sz="1500" b="1" dirty="0">
                <a:solidFill>
                  <a:srgbClr val="0B1220"/>
                </a:solidFill>
                <a:latin typeface="Calibri" pitchFamily="34" charset="0"/>
                <a:ea typeface="Calibri" pitchFamily="34" charset="-122"/>
                <a:cs typeface="Calibri" pitchFamily="34" charset="-120"/>
              </a:rPr>
              <a:t>Reach</a:t>
            </a:r>
            <a:endParaRPr lang="en-US" sz="1500" dirty="0"/>
          </a:p>
          <a:p>
            <a:pPr indent="0" marL="0">
              <a:buNone/>
            </a:pPr>
            <a:r>
              <a:rPr lang="en-US" sz="1500" dirty="0">
                <a:solidFill>
                  <a:srgbClr val="4B5A70"/>
                </a:solidFill>
                <a:latin typeface="Calibri" pitchFamily="34" charset="0"/>
                <a:ea typeface="Calibri" pitchFamily="34" charset="-122"/>
                <a:cs typeface="Calibri" pitchFamily="34" charset="-120"/>
              </a:rPr>
              <a:t>Hindi and regional languages; sales follow-ups</a:t>
            </a:r>
            <a:endParaRPr lang="en-US" sz="1500" dirty="0"/>
          </a:p>
        </p:txBody>
      </p:sp>
      <p:sp>
        <p:nvSpPr>
          <p:cNvPr id="38" name="Shape 36"/>
          <p:cNvSpPr/>
          <p:nvPr/>
        </p:nvSpPr>
        <p:spPr>
          <a:xfrm>
            <a:off x="7360920" y="6208776"/>
            <a:ext cx="4144975" cy="0"/>
          </a:xfrm>
          <a:prstGeom prst="line">
            <a:avLst/>
          </a:prstGeom>
          <a:noFill/>
          <a:ln w="9525">
            <a:solidFill>
              <a:srgbClr val="D3DBE6"/>
            </a:solidFill>
            <a:prstDash val="solid"/>
          </a:ln>
        </p:spPr>
      </p:sp>
      <p:sp>
        <p:nvSpPr>
          <p:cNvPr id="25" name="Slide Number Placeholder 0"/>
          <p:cNvSpPr>
            <a:spLocks noGrp="1"/>
          </p:cNvSpPr>
          <p:nvPr>
            <p:ph type="sldNum" sz="quarter" idx="4294967295"/>
          </p:nvPr>
        </p:nvSpPr>
        <p:spPr>
          <a:xfrm>
            <a:off x="10957255" y="6400800"/>
            <a:ext cx="548640" cy="22860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4B5A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Resolv: AI teammate for customer service</dc:title>
  <dc:subject>PptxGenJS Presentation</dc:subject>
  <dc:creator>[Team Name]</dc:creator>
  <cp:lastModifiedBy>[Team Name]</cp:lastModifiedBy>
  <cp:revision>1</cp:revision>
  <dcterms:created xsi:type="dcterms:W3CDTF">2026-10-23T19:18:51Z</dcterms:created>
  <dcterms:modified xsi:type="dcterms:W3CDTF">2026-10-23T19:18:51Z</dcterms:modified>
</cp:coreProperties>
</file>