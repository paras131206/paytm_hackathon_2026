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7c26e6c-8971-68b7-8356-3cbe7cc79d0a}">
          <p14:sldIdLst>
            <p14:sldId id="256"/>
          </p14:sldIdLst>
        </p14:section>
        <p14:section name="Problem" id="{78897cb8-3df5-8a83-2cda-b49d019f1d3b}">
          <p14:sldIdLst>
            <p14:sldId id="257"/>
          </p14:sldIdLst>
        </p14:section>
        <p14:section name="Solution" id="{4a9351ad-82f3-321e-5b11-5e9446d177e2}">
          <p14:sldIdLst>
            <p14:sldId id="258"/>
            <p14:sldId id="259"/>
          </p14:sldIdLst>
        </p14:section>
        <p14:section name="Technology" id="{9b8bcb79-1d67-fc87-81d4-4b058980ba00}">
          <p14:sldIdLst>
            <p14:sldId id="260"/>
            <p14:sldId id="261"/>
          </p14:sldIdLst>
        </p14:section>
        <p14:section name="Impact" id="{f830c1b2-c8bb-9ec4-8323-fb37faa68015}">
          <p14:sldIdLst>
            <p14:sldId id="262"/>
            <p14:sldId id="263"/>
          </p14:sldIdLst>
        </p14:section>
        <p14:section name="Next steps" id="{1454042f-7f38-dace-c774-931cabdcb5b9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Resolv: an AI teammate for Paytm-style payment support that resolves failed UPI payment tickets end to end — it understands the complaint, checks the payment, issues the refund within policy, verifies it, and hands anything risky to a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official problem asks for an AI teammate that completes a workflow end to end. We picked failed UPI payments: a high-volume, rule-bound ticket where speed matters (T+1, then ₹100/day compensation) and where a careless AI could do real damage by moving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 is a teammate, not a chatbot. The language model plans; a deterministic policy engine decides what is allowed; validated tools do the work; and a ledger check proves it worked. The screenshot is the live prototype after resolving TKT-1001.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loop with TKT-1001: the agent loads context, records its assessment, checks the switch (FAILED), the policy engine allows an automatic refund under ₹2,000, the refund is written and then verified in the ledger, the ticket is resolved and the customer told — all in one run. Other branches go to approval, wait or escalation.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the UI talks to a FastAPI backend. The orchestrator runs the loop; the LLM chain only proposes tool calls; the policy engine and tool registry decide and execute; sandbox adapters stand in for the payment switch and refund rail; SQLite stores everything for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AI agents are trusted to behave. Resolv is built so it doesn't have to be trusted: the model can propose anything, but only policy-approved, validated, verified actions happen — and every one is visible in the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honest prototype numbers on synthetic data: every seeded scenario ends in the expected state, every refund is verified before the customer hears about it, and live LLM runs take seconds to about a minute. The business value is speed inside T+1, freed agent time, and consistent, auditable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model: B2B SaaS with a platform fee plus an outcome fee per verified auto-resolved ticket, and an enterprise tier for on-prem or local models. Start with one queue, prove the numbers against a baseline, then expand to more ticket types and more payment companies.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Next: connect real bank or PSP sandbox APIs, add Indian languages and voice, automate T+1 compensation, add roles and login, and run a measured pilot against today's baseline. Code is on GitHub; add the demo video link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dark)">
    <p:bg>
      <p:bgPr>
        <a:solidFill>
          <a:srgbClr val="0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778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Resolv  ·  Paytm Hackathon 2026  ·  Track 3: Autonomous AI Teammates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ras131206/PAYTM_hackathon_2026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hyperlink" Target="https://www.rbi.org.in/Scripts/NotificationUser.aspx?Id=11693" TargetMode="External"/><Relationship Id="rId8" Type="http://schemas.openxmlformats.org/officeDocument/2006/relationships/hyperlink" Target="https://arxiv.org/abs/2210.03629" TargetMode="External"/><Relationship Id="rId9" Type="http://schemas.openxmlformats.org/officeDocument/2006/relationships/hyperlink" Target="https://ai.google.dev/gemini-api/docs/function-calling" TargetMode="External"/><Relationship Id="rId10" Type="http://schemas.openxmlformats.org/officeDocument/2006/relationships/hyperlink" Target="https://console.groq.com/docs" TargetMode="External"/><Relationship Id="rId12" Type="http://schemas.openxmlformats.org/officeDocument/2006/relationships/hyperlink" Target="https://github.com/Paras131206/PAYTM_hackathon_2026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11" Type="http://schemas.openxmlformats.org/officeDocument/2006/relationships/image" Target="../media/image-9-7.png"/><Relationship Id="rId13" Type="http://schemas.openxmlformats.org/officeDocument/2006/relationships/image" Target="../media/image-9-8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777240"/>
            <a:ext cx="3657600" cy="3657600"/>
          </a:xfrm>
          <a:prstGeom prst="ellipse">
            <a:avLst/>
          </a:prstGeom>
          <a:solidFill>
            <a:srgbClr val="0EA5E0">
              <a:alpha val="12000"/>
            </a:srgbClr>
          </a:solidFill>
          <a:ln w="12700">
            <a:solidFill>
              <a:srgbClr val="0EA5E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280160"/>
            <a:ext cx="2651760" cy="2651760"/>
          </a:xfrm>
          <a:prstGeom prst="ellipse">
            <a:avLst/>
          </a:prstGeom>
          <a:solidFill>
            <a:srgbClr val="12366F"/>
          </a:solidFill>
          <a:ln w="19050">
            <a:solidFill>
              <a:srgbClr val="0EA5E0">
                <a:alpha val="60000"/>
              </a:srgbClr>
            </a:solidFill>
            <a:prstDash val="solid"/>
          </a:ln>
        </p:spPr>
      </p:sp>
      <p:pic>
        <p:nvPicPr>
          <p:cNvPr id="4" name="Image 0" descr="Resolv robot masc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169164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66760" y="416052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12366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●  100% deterministic refund policy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48640"/>
            <a:ext cx="585216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rgbClr val="0EA5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0"/>
                </a:solidFill>
              </a:rPr>
              <a:t>PAYTM HACKATHON 2026  ·  TRACK 3: AUTONOMOUS AI TEAMMATES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</a:t>
            </a:r>
            <a:endParaRPr lang="en-US" sz="6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488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FE3F7"/>
                </a:solidFill>
              </a:rPr>
              <a:t>The AI support teammate that </a:t>
            </a:r>
            <a:pPr indent="0" marL="0">
              <a:buNone/>
            </a:pPr>
            <a:r>
              <a:rPr lang="en-US" sz="2100" b="1" dirty="0">
                <a:solidFill>
                  <a:srgbClr val="0EA5E0"/>
                </a:solidFill>
              </a:rPr>
              <a:t>resolves</a:t>
            </a:r>
            <a:pPr indent="0" marL="0">
              <a:buNone/>
            </a:pPr>
            <a:r>
              <a:rPr lang="en-US" sz="2100" dirty="0">
                <a:solidFill>
                  <a:srgbClr val="CFE3F7"/>
                </a:solidFill>
              </a:rPr>
              <a:t> failed UPI payments end to end, instead of just talking about them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A5E0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560320" y="3429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Build AI teammates that don't just respond; they get the job done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995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A5E0"/>
                </a:solidFill>
              </a:rPr>
              <a:t>TEAM NAME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560320" y="39959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4-Goats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56285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A5E0"/>
                </a:solidFill>
              </a:rPr>
              <a:t>TEAM MEMBERS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459028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Paras Patil  ·  Swastik Athanikar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Nitish Shinde  ·  Sanchit Tawde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349240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rgbClr val="0EA5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0"/>
                </a:solidFill>
              </a:rPr>
              <a:t>Understands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965960" y="5349240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Acts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383280" y="5349240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rgbClr val="0EA5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0"/>
                </a:solidFill>
              </a:rPr>
              <a:t>Verifies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5349240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Escalates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D3"/>
                </a:solidFill>
              </a:rPr>
              <a:t>GitHub: </a:t>
            </a:r>
            <a:pPr indent="0" marL="0">
              <a:buNone/>
            </a:pPr>
            <a:r>
              <a:rPr lang="en-US" sz="1200" u="sng" dirty="0">
                <a:solidFill>
                  <a:srgbClr val="0EA5E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github.com/Paras131206/PAYTM_hackathon_2026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brand chip"/>
          <p:cNvSpPr txBox="1"/>
          <p:nvPr/>
        </p:nvSpPr>
        <p:spPr>
          <a:xfrm>
            <a:off x="9646920" y="384048"/>
            <a:ext cx="2084832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CE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710928" y="42976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Resolv robo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1395" y="510235"/>
            <a:ext cx="204826" cy="2048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149840" y="3840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Resolv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AI teammate</a:t>
            </a:r>
            <a:endParaRPr lang="en-US" sz="1300" dirty="0"/>
          </a:p>
        </p:txBody>
      </p:sp>
      <p:sp>
        <p:nvSpPr>
          <p:cNvPr id="7" name="official problem statement"/>
          <p:cNvSpPr/>
          <p:nvPr/>
        </p:nvSpPr>
        <p:spPr>
          <a:xfrm>
            <a:off x="457200" y="1188720"/>
            <a:ext cx="4572000" cy="4983480"/>
          </a:xfrm>
          <a:prstGeom prst="roundRect">
            <a:avLst>
              <a:gd name="adj" fmla="val 2800"/>
            </a:avLst>
          </a:prstGeom>
          <a:solidFill>
            <a:schemeClr val="tx2"/>
          </a:solidFill>
          <a:ln w="9525">
            <a:solidFill>
              <a:srgbClr val="0B2A5B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146304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12366F"/>
          </a:solidFill>
          <a:ln w="9525">
            <a:solidFill>
              <a:srgbClr val="0EA5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0"/>
                </a:solidFill>
              </a:rPr>
              <a:t>OFFICIAL PROBLEM STATEMENT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65960"/>
            <a:ext cx="3977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“How might we build an AI teammate that can independently handle a customer-service or sales workflow end-to-end — resolving issues, taking actions across systems, and escalating to humans only when needed?”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77240" y="4526280"/>
            <a:ext cx="3931920" cy="0"/>
          </a:xfrm>
          <a:prstGeom prst="line">
            <a:avLst/>
          </a:prstGeom>
          <a:noFill/>
          <a:ln w="12700">
            <a:solidFill>
              <a:srgbClr val="12366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46634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A5E0"/>
                </a:solidFill>
              </a:rPr>
              <a:t>Our focus: </a:t>
            </a:r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</a:rPr>
              <a:t>customer service for failed and disputed UPI payments, the most common payments-support ticket.</a:t>
            </a:r>
            <a:endParaRPr lang="en-US" sz="1500" dirty="0"/>
          </a:p>
        </p:txBody>
      </p:sp>
      <p:sp>
        <p:nvSpPr>
          <p:cNvPr id="12" name="pain 1"/>
          <p:cNvSpPr/>
          <p:nvPr/>
        </p:nvSpPr>
        <p:spPr>
          <a:xfrm>
            <a:off x="5303520" y="1188720"/>
            <a:ext cx="6428232" cy="1024128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04688" y="1408176"/>
            <a:ext cx="585216" cy="585216"/>
          </a:xfrm>
          <a:prstGeom prst="ellipse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pic>
        <p:nvPicPr>
          <p:cNvPr id="14" name="Image 1" descr="“Money debited, payment failed”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52704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309360" y="12801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“Money debited, payment failed”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309360" y="162763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Every ticket needs the same manual checks: payment switch, ledger, refund policy, then a reply. Customers wait and worry.</a:t>
            </a:r>
            <a:endParaRPr lang="en-US" sz="1300" dirty="0"/>
          </a:p>
        </p:txBody>
      </p:sp>
      <p:sp>
        <p:nvSpPr>
          <p:cNvPr id="17" name="pain 2"/>
          <p:cNvSpPr/>
          <p:nvPr/>
        </p:nvSpPr>
        <p:spPr>
          <a:xfrm>
            <a:off x="5303520" y="2377440"/>
            <a:ext cx="6428232" cy="1024128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504688" y="2596896"/>
            <a:ext cx="585216" cy="585216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9" name="Image 2" descr="Chatbots answer, they don't a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71576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09360" y="24688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Chatbots answer, they don't act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281635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Today's bots can explain a refund but cannot issue it, verify it or close the ticket, so a human still does the work.</a:t>
            </a:r>
            <a:endParaRPr lang="en-US" sz="1300" dirty="0"/>
          </a:p>
        </p:txBody>
      </p:sp>
      <p:sp>
        <p:nvSpPr>
          <p:cNvPr id="22" name="pain 3"/>
          <p:cNvSpPr/>
          <p:nvPr/>
        </p:nvSpPr>
        <p:spPr>
          <a:xfrm>
            <a:off x="5303520" y="3566160"/>
            <a:ext cx="6428232" cy="1024128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504688" y="3785616"/>
            <a:ext cx="585216" cy="585216"/>
          </a:xfrm>
          <a:prstGeom prst="ellipse">
            <a:avLst/>
          </a:prstGeom>
          <a:solidFill>
            <a:srgbClr val="E0F4FC"/>
          </a:solidFill>
          <a:ln w="12700">
            <a:solidFill>
              <a:srgbClr val="E0F4FC"/>
            </a:solidFill>
            <a:prstDash val="solid"/>
          </a:ln>
        </p:spPr>
      </p:sp>
      <p:pic>
        <p:nvPicPr>
          <p:cNvPr id="24" name="Image 3" descr="Letting AI move money is risk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3904488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309360" y="36576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Letting AI move money is risky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309360" y="400507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An LLM can invent an amount, obey a prompt injection, or claim a refund that never happened.</a:t>
            </a:r>
            <a:endParaRPr lang="en-US" sz="1300" dirty="0"/>
          </a:p>
        </p:txBody>
      </p:sp>
      <p:sp>
        <p:nvSpPr>
          <p:cNvPr id="27" name="RBI rule callout"/>
          <p:cNvSpPr/>
          <p:nvPr/>
        </p:nvSpPr>
        <p:spPr>
          <a:xfrm>
            <a:off x="5303520" y="4754880"/>
            <a:ext cx="6428232" cy="1417320"/>
          </a:xfrm>
          <a:prstGeom prst="roundRect">
            <a:avLst>
              <a:gd name="adj" fmla="val 9032"/>
            </a:avLst>
          </a:prstGeom>
          <a:solidFill>
            <a:srgbClr val="E0F4FC"/>
          </a:solidFill>
          <a:ln w="9525">
            <a:solidFill>
              <a:srgbClr val="BDE5F7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5486400" y="4864608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</a:t>
            </a:r>
            <a:endParaRPr lang="en-US" sz="40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0" y="55961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₹100/day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7086600" y="48463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Slow resolution has a real cost.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RBI requires a failed UPI debit to be reversed by T+1. After that, the customer must be compensated ₹100 for every day of delay.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7086600" y="5760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Source: RBI circular on TAT harmonisation and compensation for failed transactions, 20 Sep 2019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solution: Resolv</a:t>
            </a:r>
            <a:endParaRPr lang="en-US" sz="3000" dirty="0"/>
          </a:p>
        </p:txBody>
      </p:sp>
      <p:sp>
        <p:nvSpPr>
          <p:cNvPr id="3" name="brand chip"/>
          <p:cNvSpPr txBox="1"/>
          <p:nvPr/>
        </p:nvSpPr>
        <p:spPr>
          <a:xfrm>
            <a:off x="9646920" y="384048"/>
            <a:ext cx="2084832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CE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710928" y="42976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Resolv robo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1395" y="510235"/>
            <a:ext cx="204826" cy="2048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149840" y="3840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Resolv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AI teammate</a:t>
            </a:r>
            <a:endParaRPr lang="en-US" sz="1300" dirty="0"/>
          </a:p>
        </p:txBody>
      </p:sp>
      <p:sp>
        <p:nvSpPr>
          <p:cNvPr id="7" name="core idea"/>
          <p:cNvSpPr/>
          <p:nvPr/>
        </p:nvSpPr>
        <p:spPr>
          <a:xfrm>
            <a:off x="457200" y="1143000"/>
            <a:ext cx="11274552" cy="822960"/>
          </a:xfrm>
          <a:prstGeom prst="roundRect">
            <a:avLst>
              <a:gd name="adj" fmla="val 15556"/>
            </a:avLst>
          </a:prstGeom>
          <a:solidFill>
            <a:schemeClr val="tx2"/>
          </a:solidFill>
          <a:ln w="9525">
            <a:solidFill>
              <a:srgbClr val="0B2A5B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1280160"/>
            <a:ext cx="548640" cy="548640"/>
          </a:xfrm>
          <a:prstGeom prst="ellipse">
            <a:avLst/>
          </a:prstGeom>
          <a:solidFill>
            <a:srgbClr val="12366F"/>
          </a:solidFill>
          <a:ln w="12700">
            <a:solidFill>
              <a:srgbClr val="12366F"/>
            </a:solidFill>
            <a:prstDash val="solid"/>
          </a:ln>
        </p:spPr>
      </p:sp>
      <p:pic>
        <p:nvPicPr>
          <p:cNvPr id="9" name="Image 1" descr="core id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9" y="140086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11430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0"/>
                </a:solidFill>
              </a:rPr>
              <a:t>Core idea: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the AI decides what to do, fixed rules decide what is allowed, tools do it, and the ledger proves it.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02920" y="2276856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Understa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74" y="2389510"/>
            <a:ext cx="286756" cy="2867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240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Understands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25328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Profile, recent payments, past tickets and the chat.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02920" y="2962656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3" descr="Decid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74" y="3075310"/>
            <a:ext cx="286756" cy="2867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2926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Decides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188720" y="32186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Intent and which payment; asks once if unsure.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02920" y="3648456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4" descr="Act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74" y="3761110"/>
            <a:ext cx="286756" cy="28675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3611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Acts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1188720" y="39044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Checks the switch, refunds, updates the ticket, replies.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502920" y="4334256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5" descr="Verifi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574" y="4446910"/>
            <a:ext cx="286756" cy="28675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188720" y="4297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Verifies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188720" y="45902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Confirms the refund in the ledger before saying so.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502920" y="5020056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mage 6" descr="Escalat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574" y="5132710"/>
            <a:ext cx="286756" cy="28675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188720" y="49834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Escalates</a:t>
            </a:r>
            <a:endParaRPr lang="en-US" sz="1600" dirty="0"/>
          </a:p>
        </p:txBody>
      </p:sp>
      <p:sp>
        <p:nvSpPr>
          <p:cNvPr id="30" name="Text 21"/>
          <p:cNvSpPr txBox="1"/>
          <p:nvPr/>
        </p:nvSpPr>
        <p:spPr>
          <a:xfrm>
            <a:off x="1188720" y="52760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Big refunds, disputes, outages, tricks go to a human.</a:t>
            </a:r>
            <a:endParaRPr lang="en-US" sz="1300" dirty="0"/>
          </a:p>
        </p:txBody>
      </p:sp>
      <p:sp>
        <p:nvSpPr>
          <p:cNvPr id="31" name="screenshot frame"/>
          <p:cNvSpPr/>
          <p:nvPr/>
        </p:nvSpPr>
        <p:spPr>
          <a:xfrm>
            <a:off x="5257800" y="2240280"/>
            <a:ext cx="6473952" cy="329184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pic>
        <p:nvPicPr>
          <p:cNvPr id="32" name="Image 7" descr="Resolv prototype: case workspace with customer context, thread and agent execution timelin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6672" y="2359152"/>
            <a:ext cx="6236208" cy="294436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376672" y="5303520"/>
            <a:ext cx="6236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Working prototype: the case workspace. The ₹450 payment shows “refunded” after a verified ledger check.</a:t>
            </a:r>
            <a:endParaRPr lang="en-US" sz="1000" dirty="0"/>
          </a:p>
        </p:txBody>
      </p:sp>
      <p:sp>
        <p:nvSpPr>
          <p:cNvPr id="34" name="Text 24"/>
          <p:cNvSpPr txBox="1"/>
          <p:nvPr/>
        </p:nvSpPr>
        <p:spPr>
          <a:xfrm>
            <a:off x="457200" y="58338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WHO IT'S FOR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1920240" y="5833872"/>
            <a:ext cx="228600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0EA5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UPI app support teams</a:t>
            </a:r>
            <a:endParaRPr lang="en-US" sz="1300" dirty="0"/>
          </a:p>
        </p:txBody>
      </p:sp>
      <p:sp>
        <p:nvSpPr>
          <p:cNvPr id="36" name="Text 26"/>
          <p:cNvSpPr txBox="1"/>
          <p:nvPr/>
        </p:nvSpPr>
        <p:spPr>
          <a:xfrm>
            <a:off x="4389120" y="5833872"/>
            <a:ext cx="228600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0EA5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Payment aggregators</a:t>
            </a:r>
            <a:endParaRPr lang="en-US" sz="1300" dirty="0"/>
          </a:p>
        </p:txBody>
      </p:sp>
      <p:sp>
        <p:nvSpPr>
          <p:cNvPr id="37" name="Text 27"/>
          <p:cNvSpPr txBox="1"/>
          <p:nvPr/>
        </p:nvSpPr>
        <p:spPr>
          <a:xfrm>
            <a:off x="6858000" y="5833872"/>
            <a:ext cx="228600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0EA5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Bank service desks</a:t>
            </a:r>
            <a:endParaRPr lang="en-US" sz="1300" dirty="0"/>
          </a:p>
        </p:txBody>
      </p:sp>
      <p:sp>
        <p:nvSpPr>
          <p:cNvPr id="38" name="Text 28"/>
          <p:cNvSpPr txBox="1"/>
          <p:nvPr/>
        </p:nvSpPr>
        <p:spPr>
          <a:xfrm>
            <a:off x="9326880" y="5833872"/>
            <a:ext cx="228600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0EA5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Merchant operations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3000" dirty="0"/>
          </a:p>
        </p:txBody>
      </p:sp>
      <p:sp>
        <p:nvSpPr>
          <p:cNvPr id="3" name="brand chip"/>
          <p:cNvSpPr txBox="1"/>
          <p:nvPr/>
        </p:nvSpPr>
        <p:spPr>
          <a:xfrm>
            <a:off x="9646920" y="384048"/>
            <a:ext cx="2084832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CE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710928" y="42976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Resolv robo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1395" y="510235"/>
            <a:ext cx="204826" cy="2048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149840" y="3840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Resolv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AI teammate</a:t>
            </a:r>
            <a:endParaRPr lang="en-US" sz="1300" dirty="0"/>
          </a:p>
        </p:txBody>
      </p:sp>
      <p:sp>
        <p:nvSpPr>
          <p:cNvPr id="7" name="step 1"/>
          <p:cNvSpPr/>
          <p:nvPr/>
        </p:nvSpPr>
        <p:spPr>
          <a:xfrm>
            <a:off x="457200" y="1188720"/>
            <a:ext cx="2487168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Customer mess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148224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377440" y="1371600"/>
            <a:ext cx="384048" cy="384048"/>
          </a:xfrm>
          <a:prstGeom prst="ellipse">
            <a:avLst/>
          </a:prstGeom>
          <a:solidFill>
            <a:srgbClr val="E0F4FC"/>
          </a:solidFill>
          <a:ln>
            <a:solidFill>
              <a:srgbClr val="E0F4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196596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Customer message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30428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App chat: “₹450 debited, payment failed”</a:t>
            </a:r>
            <a:endParaRPr lang="en-US" sz="1300" dirty="0"/>
          </a:p>
        </p:txBody>
      </p:sp>
      <p:pic>
        <p:nvPicPr>
          <p:cNvPr id="13" name="Image 2" descr="arr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88" y="1924812"/>
            <a:ext cx="310896" cy="310896"/>
          </a:xfrm>
          <a:prstGeom prst="rect">
            <a:avLst/>
          </a:prstGeom>
        </p:spPr>
      </p:pic>
      <p:sp>
        <p:nvSpPr>
          <p:cNvPr id="14" name="step 2"/>
          <p:cNvSpPr/>
          <p:nvPr/>
        </p:nvSpPr>
        <p:spPr>
          <a:xfrm>
            <a:off x="3355848" y="1188720"/>
            <a:ext cx="2487168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538728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3" descr="Load conte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9370" y="148224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276088" y="1371600"/>
            <a:ext cx="384048" cy="384048"/>
          </a:xfrm>
          <a:prstGeom prst="ellipse">
            <a:avLst/>
          </a:prstGeom>
          <a:solidFill>
            <a:srgbClr val="E0F4FC"/>
          </a:solidFill>
          <a:ln>
            <a:solidFill>
              <a:srgbClr val="E0F4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3538728" y="196596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Load context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3538728" y="230428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Profile, last 10 payments, past tickets, policies</a:t>
            </a:r>
            <a:endParaRPr lang="en-US" sz="1300" dirty="0"/>
          </a:p>
        </p:txBody>
      </p:sp>
      <p:pic>
        <p:nvPicPr>
          <p:cNvPr id="20" name="Image 4" descr="arr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736" y="1924812"/>
            <a:ext cx="310896" cy="310896"/>
          </a:xfrm>
          <a:prstGeom prst="rect">
            <a:avLst/>
          </a:prstGeom>
        </p:spPr>
      </p:pic>
      <p:sp>
        <p:nvSpPr>
          <p:cNvPr id="21" name="step 3"/>
          <p:cNvSpPr/>
          <p:nvPr/>
        </p:nvSpPr>
        <p:spPr>
          <a:xfrm>
            <a:off x="6254496" y="1188720"/>
            <a:ext cx="2487168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437376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5" descr="Asses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8018" y="1482242"/>
            <a:ext cx="281635" cy="28163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174736" y="1371600"/>
            <a:ext cx="384048" cy="384048"/>
          </a:xfrm>
          <a:prstGeom prst="ellipse">
            <a:avLst/>
          </a:prstGeom>
          <a:solidFill>
            <a:srgbClr val="E0F4FC"/>
          </a:solidFill>
          <a:ln>
            <a:solidFill>
              <a:srgbClr val="E0F4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6437376" y="196596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Assess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6437376" y="230428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Intent + which payment + manipulation check</a:t>
            </a:r>
            <a:endParaRPr lang="en-US" sz="1300" dirty="0"/>
          </a:p>
        </p:txBody>
      </p:sp>
      <p:pic>
        <p:nvPicPr>
          <p:cNvPr id="27" name="Image 6" descr="arro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7384" y="1924812"/>
            <a:ext cx="310896" cy="310896"/>
          </a:xfrm>
          <a:prstGeom prst="rect">
            <a:avLst/>
          </a:prstGeom>
        </p:spPr>
      </p:pic>
      <p:sp>
        <p:nvSpPr>
          <p:cNvPr id="28" name="step 4"/>
          <p:cNvSpPr/>
          <p:nvPr/>
        </p:nvSpPr>
        <p:spPr>
          <a:xfrm>
            <a:off x="9153144" y="1188720"/>
            <a:ext cx="2487168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9336024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7" descr="Gather evidenc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6666" y="1482242"/>
            <a:ext cx="281635" cy="28163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1073384" y="1371600"/>
            <a:ext cx="384048" cy="384048"/>
          </a:xfrm>
          <a:prstGeom prst="ellipse">
            <a:avLst/>
          </a:prstGeom>
          <a:solidFill>
            <a:srgbClr val="E0F4FC"/>
          </a:solidFill>
          <a:ln>
            <a:solidFill>
              <a:srgbClr val="E0F4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Text 22"/>
          <p:cNvSpPr txBox="1"/>
          <p:nvPr/>
        </p:nvSpPr>
        <p:spPr>
          <a:xfrm>
            <a:off x="9336024" y="196596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Gather evidence</a:t>
            </a:r>
            <a:endParaRPr lang="en-US" sz="1500" dirty="0"/>
          </a:p>
        </p:txBody>
      </p:sp>
      <p:sp>
        <p:nvSpPr>
          <p:cNvPr id="33" name="Text 23"/>
          <p:cNvSpPr txBox="1"/>
          <p:nvPr/>
        </p:nvSpPr>
        <p:spPr>
          <a:xfrm>
            <a:off x="9336024" y="230428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Ask the payment switch: SUCCESS / FAILED / PENDING</a:t>
            </a:r>
            <a:endParaRPr lang="en-US" sz="1300" dirty="0"/>
          </a:p>
        </p:txBody>
      </p:sp>
      <p:pic>
        <p:nvPicPr>
          <p:cNvPr id="34" name="Image 8" descr="arrow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1280" y="3081528"/>
            <a:ext cx="310896" cy="310896"/>
          </a:xfrm>
          <a:prstGeom prst="rect">
            <a:avLst/>
          </a:prstGeom>
        </p:spPr>
      </p:pic>
      <p:sp>
        <p:nvSpPr>
          <p:cNvPr id="35" name="step 5"/>
          <p:cNvSpPr/>
          <p:nvPr/>
        </p:nvSpPr>
        <p:spPr>
          <a:xfrm>
            <a:off x="9153144" y="3429000"/>
            <a:ext cx="2487168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9336024" y="3611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Image 9" descr="Policy decisi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46666" y="3722522"/>
            <a:ext cx="281635" cy="281635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11073384" y="3611880"/>
            <a:ext cx="384048" cy="384048"/>
          </a:xfrm>
          <a:prstGeom prst="ellipse">
            <a:avLst/>
          </a:prstGeom>
          <a:solidFill>
            <a:srgbClr val="E0F4FC"/>
          </a:solidFill>
          <a:ln>
            <a:solidFill>
              <a:srgbClr val="E0F4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Text 27"/>
          <p:cNvSpPr txBox="1"/>
          <p:nvPr/>
        </p:nvSpPr>
        <p:spPr>
          <a:xfrm>
            <a:off x="9336024" y="420624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Policy decision</a:t>
            </a:r>
            <a:endParaRPr lang="en-US" sz="1500" dirty="0"/>
          </a:p>
        </p:txBody>
      </p:sp>
      <p:sp>
        <p:nvSpPr>
          <p:cNvPr id="40" name="Text 28"/>
          <p:cNvSpPr txBox="1"/>
          <p:nvPr/>
        </p:nvSpPr>
        <p:spPr>
          <a:xfrm>
            <a:off x="9336024" y="454456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Fixed rules: auto-refund, approve, wait or block</a:t>
            </a:r>
            <a:endParaRPr lang="en-US" sz="1300" dirty="0"/>
          </a:p>
        </p:txBody>
      </p:sp>
      <p:pic>
        <p:nvPicPr>
          <p:cNvPr id="41" name="Image 10" descr="arrow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7384" y="4165092"/>
            <a:ext cx="310896" cy="310896"/>
          </a:xfrm>
          <a:prstGeom prst="rect">
            <a:avLst/>
          </a:prstGeom>
        </p:spPr>
      </p:pic>
      <p:sp>
        <p:nvSpPr>
          <p:cNvPr id="42" name="step 6"/>
          <p:cNvSpPr/>
          <p:nvPr/>
        </p:nvSpPr>
        <p:spPr>
          <a:xfrm>
            <a:off x="6254496" y="3429000"/>
            <a:ext cx="2487168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43" name="Shape 30"/>
          <p:cNvSpPr/>
          <p:nvPr/>
        </p:nvSpPr>
        <p:spPr>
          <a:xfrm>
            <a:off x="6437376" y="3611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4" name="Image 11" descr="Act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8018" y="3722522"/>
            <a:ext cx="281635" cy="281635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8174736" y="3611880"/>
            <a:ext cx="384048" cy="384048"/>
          </a:xfrm>
          <a:prstGeom prst="ellipse">
            <a:avLst/>
          </a:prstGeom>
          <a:solidFill>
            <a:srgbClr val="E0F4FC"/>
          </a:solidFill>
          <a:ln>
            <a:solidFill>
              <a:srgbClr val="E0F4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6</a:t>
            </a:r>
            <a:endParaRPr lang="en-US" sz="1300" dirty="0"/>
          </a:p>
        </p:txBody>
      </p:sp>
      <p:sp>
        <p:nvSpPr>
          <p:cNvPr id="46" name="Text 32"/>
          <p:cNvSpPr txBox="1"/>
          <p:nvPr/>
        </p:nvSpPr>
        <p:spPr>
          <a:xfrm>
            <a:off x="6437376" y="420624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Act</a:t>
            </a:r>
            <a:endParaRPr lang="en-US" sz="1500" dirty="0"/>
          </a:p>
        </p:txBody>
      </p:sp>
      <p:sp>
        <p:nvSpPr>
          <p:cNvPr id="47" name="Text 33"/>
          <p:cNvSpPr txBox="1"/>
          <p:nvPr/>
        </p:nvSpPr>
        <p:spPr>
          <a:xfrm>
            <a:off x="6437376" y="454456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Refund (amount from ledger), update ticket, reply</a:t>
            </a:r>
            <a:endParaRPr lang="en-US" sz="1300" dirty="0"/>
          </a:p>
        </p:txBody>
      </p:sp>
      <p:pic>
        <p:nvPicPr>
          <p:cNvPr id="48" name="Image 12" descr="arrow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88736" y="4165092"/>
            <a:ext cx="310896" cy="310896"/>
          </a:xfrm>
          <a:prstGeom prst="rect">
            <a:avLst/>
          </a:prstGeom>
        </p:spPr>
      </p:pic>
      <p:sp>
        <p:nvSpPr>
          <p:cNvPr id="49" name="step 7"/>
          <p:cNvSpPr/>
          <p:nvPr/>
        </p:nvSpPr>
        <p:spPr>
          <a:xfrm>
            <a:off x="3355848" y="3429000"/>
            <a:ext cx="2487168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50" name="Shape 35"/>
          <p:cNvSpPr/>
          <p:nvPr/>
        </p:nvSpPr>
        <p:spPr>
          <a:xfrm>
            <a:off x="3538728" y="3611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1" name="Image 13" descr="Verify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49370" y="3722522"/>
            <a:ext cx="281635" cy="281635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5276088" y="3611880"/>
            <a:ext cx="384048" cy="384048"/>
          </a:xfrm>
          <a:prstGeom prst="ellipse">
            <a:avLst/>
          </a:prstGeom>
          <a:solidFill>
            <a:srgbClr val="E0F4FC"/>
          </a:solidFill>
          <a:ln>
            <a:solidFill>
              <a:srgbClr val="E0F4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7</a:t>
            </a:r>
            <a:endParaRPr lang="en-US" sz="1300" dirty="0"/>
          </a:p>
        </p:txBody>
      </p:sp>
      <p:sp>
        <p:nvSpPr>
          <p:cNvPr id="53" name="Text 37"/>
          <p:cNvSpPr txBox="1"/>
          <p:nvPr/>
        </p:nvSpPr>
        <p:spPr>
          <a:xfrm>
            <a:off x="3538728" y="420624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Verify</a:t>
            </a:r>
            <a:endParaRPr lang="en-US" sz="1500" dirty="0"/>
          </a:p>
        </p:txBody>
      </p:sp>
      <p:sp>
        <p:nvSpPr>
          <p:cNvPr id="54" name="Text 38"/>
          <p:cNvSpPr txBox="1"/>
          <p:nvPr/>
        </p:nvSpPr>
        <p:spPr>
          <a:xfrm>
            <a:off x="3538728" y="454456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Re-read the ledger; no claim before proof</a:t>
            </a:r>
            <a:endParaRPr lang="en-US" sz="1300" dirty="0"/>
          </a:p>
        </p:txBody>
      </p:sp>
      <p:pic>
        <p:nvPicPr>
          <p:cNvPr id="55" name="Image 14" descr="arrow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90088" y="4165092"/>
            <a:ext cx="310896" cy="310896"/>
          </a:xfrm>
          <a:prstGeom prst="rect">
            <a:avLst/>
          </a:prstGeom>
        </p:spPr>
      </p:pic>
      <p:sp>
        <p:nvSpPr>
          <p:cNvPr id="56" name="step 8"/>
          <p:cNvSpPr/>
          <p:nvPr/>
        </p:nvSpPr>
        <p:spPr>
          <a:xfrm>
            <a:off x="457200" y="3429000"/>
            <a:ext cx="2487168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57" name="Shape 40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8" name="Image 15" descr="Close or hand off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0722" y="3722522"/>
            <a:ext cx="281635" cy="281635"/>
          </a:xfrm>
          <a:prstGeom prst="rect">
            <a:avLst/>
          </a:prstGeom>
        </p:spPr>
      </p:pic>
      <p:sp>
        <p:nvSpPr>
          <p:cNvPr id="59" name="Text 41"/>
          <p:cNvSpPr txBox="1"/>
          <p:nvPr/>
        </p:nvSpPr>
        <p:spPr>
          <a:xfrm>
            <a:off x="2377440" y="3611880"/>
            <a:ext cx="384048" cy="384048"/>
          </a:xfrm>
          <a:prstGeom prst="ellipse">
            <a:avLst/>
          </a:prstGeom>
          <a:solidFill>
            <a:srgbClr val="E0F4FC"/>
          </a:solidFill>
          <a:ln>
            <a:solidFill>
              <a:srgbClr val="E0F4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8</a:t>
            </a:r>
            <a:endParaRPr lang="en-US" sz="1300" dirty="0"/>
          </a:p>
        </p:txBody>
      </p:sp>
      <p:sp>
        <p:nvSpPr>
          <p:cNvPr id="60" name="Text 42"/>
          <p:cNvSpPr txBox="1"/>
          <p:nvPr/>
        </p:nvSpPr>
        <p:spPr>
          <a:xfrm>
            <a:off x="640080" y="420624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Close or hand off</a:t>
            </a:r>
            <a:endParaRPr lang="en-US" sz="1500" dirty="0"/>
          </a:p>
        </p:txBody>
      </p:sp>
      <p:sp>
        <p:nvSpPr>
          <p:cNvPr id="61" name="Text 43"/>
          <p:cNvSpPr txBox="1"/>
          <p:nvPr/>
        </p:nvSpPr>
        <p:spPr>
          <a:xfrm>
            <a:off x="640080" y="454456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Resolve + notify, or human queue with evidence</a:t>
            </a:r>
            <a:endParaRPr lang="en-US" sz="1300" dirty="0"/>
          </a:p>
        </p:txBody>
      </p:sp>
      <p:sp>
        <p:nvSpPr>
          <p:cNvPr id="62" name="outcomes"/>
          <p:cNvSpPr/>
          <p:nvPr/>
        </p:nvSpPr>
        <p:spPr>
          <a:xfrm>
            <a:off x="457200" y="5468112"/>
            <a:ext cx="11274552" cy="804672"/>
          </a:xfrm>
          <a:prstGeom prst="roundRect">
            <a:avLst>
              <a:gd name="adj" fmla="val 15909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63" name="Text 45"/>
          <p:cNvSpPr txBox="1"/>
          <p:nvPr/>
        </p:nvSpPr>
        <p:spPr>
          <a:xfrm>
            <a:off x="658368" y="5468112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OUTCOMES</a:t>
            </a:r>
            <a:endParaRPr lang="en-US" sz="1200" dirty="0"/>
          </a:p>
        </p:txBody>
      </p:sp>
      <p:sp>
        <p:nvSpPr>
          <p:cNvPr id="64" name="Text 46"/>
          <p:cNvSpPr txBox="1"/>
          <p:nvPr/>
        </p:nvSpPr>
        <p:spPr>
          <a:xfrm>
            <a:off x="1783080" y="5678424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  Auto-resolved</a:t>
            </a:r>
            <a:endParaRPr lang="en-US" sz="1200" dirty="0"/>
          </a:p>
        </p:txBody>
      </p:sp>
      <p:sp>
        <p:nvSpPr>
          <p:cNvPr id="65" name="Text 47"/>
          <p:cNvSpPr txBox="1"/>
          <p:nvPr/>
        </p:nvSpPr>
        <p:spPr>
          <a:xfrm>
            <a:off x="3511296" y="5678424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●  Human approval (&gt; ₹2,000 / flagged)</a:t>
            </a:r>
            <a:endParaRPr lang="en-US" sz="1200" dirty="0"/>
          </a:p>
        </p:txBody>
      </p:sp>
      <p:sp>
        <p:nvSpPr>
          <p:cNvPr id="66" name="Text 48"/>
          <p:cNvSpPr txBox="1"/>
          <p:nvPr/>
        </p:nvSpPr>
        <p:spPr>
          <a:xfrm>
            <a:off x="6428232" y="5678424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E0F4FC"/>
          </a:solidFill>
          <a:ln w="9525">
            <a:solidFill>
              <a:srgbClr val="0EA5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0"/>
                </a:solidFill>
              </a:rPr>
              <a:t>●  Wait (pending inside T+1)</a:t>
            </a:r>
            <a:endParaRPr lang="en-US" sz="1200" dirty="0"/>
          </a:p>
        </p:txBody>
      </p:sp>
      <p:sp>
        <p:nvSpPr>
          <p:cNvPr id="67" name="Text 49"/>
          <p:cNvSpPr txBox="1"/>
          <p:nvPr/>
        </p:nvSpPr>
        <p:spPr>
          <a:xfrm>
            <a:off x="8705088" y="5678424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 w="9525">
            <a:solidFill>
              <a:srgbClr val="E11D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</a:rPr>
              <a:t>●  Escalate (dispute · outage · tricks)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tech stack</a:t>
            </a:r>
            <a:endParaRPr lang="en-US" sz="3000" dirty="0"/>
          </a:p>
        </p:txBody>
      </p:sp>
      <p:sp>
        <p:nvSpPr>
          <p:cNvPr id="3" name="brand chip"/>
          <p:cNvSpPr txBox="1"/>
          <p:nvPr/>
        </p:nvSpPr>
        <p:spPr>
          <a:xfrm>
            <a:off x="9646920" y="384048"/>
            <a:ext cx="2084832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CE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710928" y="42976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Resolv robo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1395" y="510235"/>
            <a:ext cx="204826" cy="2048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149840" y="3840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Resolv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AI teammate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15568"/>
            <a:ext cx="2377440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0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8" name="arch React UI"/>
          <p:cNvSpPr/>
          <p:nvPr/>
        </p:nvSpPr>
        <p:spPr>
          <a:xfrm>
            <a:off x="457200" y="1600200"/>
            <a:ext cx="1645920" cy="16002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33272" y="1737360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React U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903" y="1845991"/>
            <a:ext cx="276515" cy="27651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2286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React UI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5786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Cases, timeline, human queue, metrics</a:t>
            </a:r>
            <a:endParaRPr lang="en-US" sz="1200" dirty="0"/>
          </a:p>
        </p:txBody>
      </p:sp>
      <p:pic>
        <p:nvPicPr>
          <p:cNvPr id="13" name="Image 2" descr="arr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8" y="2258568"/>
            <a:ext cx="246888" cy="246888"/>
          </a:xfrm>
          <a:prstGeom prst="rect">
            <a:avLst/>
          </a:prstGeom>
        </p:spPr>
      </p:pic>
      <p:sp>
        <p:nvSpPr>
          <p:cNvPr id="14" name="arch FastAPI"/>
          <p:cNvSpPr/>
          <p:nvPr/>
        </p:nvSpPr>
        <p:spPr>
          <a:xfrm>
            <a:off x="2382926" y="1600200"/>
            <a:ext cx="1645920" cy="16002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2958998" y="1737360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3" descr="FastAP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629" y="1845991"/>
            <a:ext cx="276515" cy="27651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74366" y="2286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FastAPI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2474366" y="25786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Typed API, background agent runs</a:t>
            </a:r>
            <a:endParaRPr lang="en-US" sz="1200" dirty="0"/>
          </a:p>
        </p:txBody>
      </p:sp>
      <p:pic>
        <p:nvPicPr>
          <p:cNvPr id="19" name="Image 4" descr="arr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7134" y="2258568"/>
            <a:ext cx="246888" cy="246888"/>
          </a:xfrm>
          <a:prstGeom prst="rect">
            <a:avLst/>
          </a:prstGeom>
        </p:spPr>
      </p:pic>
      <p:sp>
        <p:nvSpPr>
          <p:cNvPr id="20" name="arch Orchestrator"/>
          <p:cNvSpPr/>
          <p:nvPr/>
        </p:nvSpPr>
        <p:spPr>
          <a:xfrm>
            <a:off x="4308653" y="1600200"/>
            <a:ext cx="1645920" cy="16002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884725" y="1737360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5" descr="Orchestrat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3356" y="1845991"/>
            <a:ext cx="276515" cy="27651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400093" y="2286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Orchestrator</a:t>
            </a:r>
            <a:endParaRPr lang="en-US" sz="1400" dirty="0"/>
          </a:p>
        </p:txBody>
      </p:sp>
      <p:sp>
        <p:nvSpPr>
          <p:cNvPr id="24" name="Text 16"/>
          <p:cNvSpPr txBox="1"/>
          <p:nvPr/>
        </p:nvSpPr>
        <p:spPr>
          <a:xfrm>
            <a:off x="4400093" y="25786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Turn budget, audit, outcome from state</a:t>
            </a:r>
            <a:endParaRPr lang="en-US" sz="1200" dirty="0"/>
          </a:p>
        </p:txBody>
      </p:sp>
      <p:pic>
        <p:nvPicPr>
          <p:cNvPr id="25" name="Image 6" descr="arro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2861" y="2258568"/>
            <a:ext cx="246888" cy="246888"/>
          </a:xfrm>
          <a:prstGeom prst="rect">
            <a:avLst/>
          </a:prstGeom>
        </p:spPr>
      </p:pic>
      <p:sp>
        <p:nvSpPr>
          <p:cNvPr id="26" name="arch LLM chain"/>
          <p:cNvSpPr/>
          <p:nvPr/>
        </p:nvSpPr>
        <p:spPr>
          <a:xfrm>
            <a:off x="6234379" y="1600200"/>
            <a:ext cx="1645920" cy="16002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6810451" y="1737360"/>
            <a:ext cx="493776" cy="49377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Image 7" descr="LLM chai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9082" y="1845991"/>
            <a:ext cx="276515" cy="27651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325819" y="2286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LLM chain</a:t>
            </a:r>
            <a:endParaRPr lang="en-US" sz="1400" dirty="0"/>
          </a:p>
        </p:txBody>
      </p:sp>
      <p:sp>
        <p:nvSpPr>
          <p:cNvPr id="30" name="Text 20"/>
          <p:cNvSpPr txBox="1"/>
          <p:nvPr/>
        </p:nvSpPr>
        <p:spPr>
          <a:xfrm>
            <a:off x="6325819" y="25786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Gemini → Groq → Ollama failover</a:t>
            </a:r>
            <a:endParaRPr lang="en-US" sz="1200" dirty="0"/>
          </a:p>
        </p:txBody>
      </p:sp>
      <p:pic>
        <p:nvPicPr>
          <p:cNvPr id="31" name="Image 8" descr="arrow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8587" y="2258568"/>
            <a:ext cx="246888" cy="246888"/>
          </a:xfrm>
          <a:prstGeom prst="rect">
            <a:avLst/>
          </a:prstGeom>
        </p:spPr>
      </p:pic>
      <p:sp>
        <p:nvSpPr>
          <p:cNvPr id="32" name="arch Policy + tools"/>
          <p:cNvSpPr/>
          <p:nvPr/>
        </p:nvSpPr>
        <p:spPr>
          <a:xfrm>
            <a:off x="8160106" y="1600200"/>
            <a:ext cx="1645920" cy="16002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33" name="Shape 22"/>
          <p:cNvSpPr/>
          <p:nvPr/>
        </p:nvSpPr>
        <p:spPr>
          <a:xfrm>
            <a:off x="8736178" y="1737360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mage 9" descr="Policy + tool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44808" y="1845991"/>
            <a:ext cx="276515" cy="276515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8251546" y="2286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Policy + tools</a:t>
            </a:r>
            <a:endParaRPr lang="en-US" sz="1400" dirty="0"/>
          </a:p>
        </p:txBody>
      </p:sp>
      <p:sp>
        <p:nvSpPr>
          <p:cNvPr id="36" name="Text 24"/>
          <p:cNvSpPr txBox="1"/>
          <p:nvPr/>
        </p:nvSpPr>
        <p:spPr>
          <a:xfrm>
            <a:off x="8251546" y="25786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Rules engine, 10 validated tools</a:t>
            </a:r>
            <a:endParaRPr lang="en-US" sz="1200" dirty="0"/>
          </a:p>
        </p:txBody>
      </p:sp>
      <p:pic>
        <p:nvPicPr>
          <p:cNvPr id="37" name="Image 10" descr="arrow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24314" y="2258568"/>
            <a:ext cx="246888" cy="246888"/>
          </a:xfrm>
          <a:prstGeom prst="rect">
            <a:avLst/>
          </a:prstGeom>
        </p:spPr>
      </p:pic>
      <p:sp>
        <p:nvSpPr>
          <p:cNvPr id="38" name="arch Sandbox + SQLite"/>
          <p:cNvSpPr/>
          <p:nvPr/>
        </p:nvSpPr>
        <p:spPr>
          <a:xfrm>
            <a:off x="10085832" y="1600200"/>
            <a:ext cx="1645920" cy="16002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39" name="Shape 26"/>
          <p:cNvSpPr/>
          <p:nvPr/>
        </p:nvSpPr>
        <p:spPr>
          <a:xfrm>
            <a:off x="10661904" y="1737360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Image 11" descr="Sandbox + SQLit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70535" y="1845991"/>
            <a:ext cx="276515" cy="276515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10177272" y="2286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Sandbox + SQLite</a:t>
            </a:r>
            <a:endParaRPr lang="en-US" sz="1400" dirty="0"/>
          </a:p>
        </p:txBody>
      </p:sp>
      <p:sp>
        <p:nvSpPr>
          <p:cNvPr id="42" name="Text 28"/>
          <p:cNvSpPr txBox="1"/>
          <p:nvPr/>
        </p:nvSpPr>
        <p:spPr>
          <a:xfrm>
            <a:off x="10177272" y="25786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Switch, refund ledger, audit trail</a:t>
            </a:r>
            <a:endParaRPr lang="en-US" sz="1200" dirty="0"/>
          </a:p>
        </p:txBody>
      </p:sp>
      <p:sp>
        <p:nvSpPr>
          <p:cNvPr id="43" name="tech stack"/>
          <p:cNvSpPr/>
          <p:nvPr/>
        </p:nvSpPr>
        <p:spPr>
          <a:xfrm>
            <a:off x="457200" y="3474720"/>
            <a:ext cx="5120640" cy="2788920"/>
          </a:xfrm>
          <a:prstGeom prst="roundRect">
            <a:avLst>
              <a:gd name="adj" fmla="val 4590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44" name="Text 30"/>
          <p:cNvSpPr txBox="1"/>
          <p:nvPr/>
        </p:nvSpPr>
        <p:spPr>
          <a:xfrm>
            <a:off x="685800" y="3584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Tech stack</a:t>
            </a:r>
            <a:endParaRPr lang="en-US" sz="1700" dirty="0"/>
          </a:p>
        </p:txBody>
      </p:sp>
      <p:pic>
        <p:nvPicPr>
          <p:cNvPr id="45" name="Image 12" descr="Python 3.14 · FastAPI · Pydantic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232" y="4078224"/>
            <a:ext cx="292608" cy="292608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1143000" y="40416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Python 3.14 · FastAPI · Pydantic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  backend, tool schemas</a:t>
            </a:r>
            <a:endParaRPr lang="en-US" sz="1300" dirty="0"/>
          </a:p>
        </p:txBody>
      </p:sp>
      <p:pic>
        <p:nvPicPr>
          <p:cNvPr id="47" name="Image 13" descr="React 19 · TypeScript · Vit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3232" y="4507992"/>
            <a:ext cx="292608" cy="292608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1143000" y="447141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React 19 · TypeScript · Vite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  operations UI</a:t>
            </a:r>
            <a:endParaRPr lang="en-US" sz="1300" dirty="0"/>
          </a:p>
        </p:txBody>
      </p:sp>
      <p:pic>
        <p:nvPicPr>
          <p:cNvPr id="49" name="Image 14" descr="Gemini · Groq · Ollama (local)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3232" y="4937760"/>
            <a:ext cx="292608" cy="292608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1143000" y="49011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Gemini · Groq · Ollama (local)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  LLM providers, free tiers</a:t>
            </a:r>
            <a:endParaRPr lang="en-US" sz="1300" dirty="0"/>
          </a:p>
        </p:txBody>
      </p:sp>
      <p:pic>
        <p:nvPicPr>
          <p:cNvPr id="51" name="Image 15" descr="SQLit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3232" y="5367528"/>
            <a:ext cx="292608" cy="292608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1143000" y="53309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SQLite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  tickets, ledger, audit events</a:t>
            </a:r>
            <a:endParaRPr lang="en-US" sz="1300" dirty="0"/>
          </a:p>
        </p:txBody>
      </p:sp>
      <p:pic>
        <p:nvPicPr>
          <p:cNvPr id="53" name="Image 16" descr="pytest (95 tests) · GitHub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3232" y="5797296"/>
            <a:ext cx="292608" cy="292608"/>
          </a:xfrm>
          <a:prstGeom prst="rect">
            <a:avLst/>
          </a:prstGeom>
        </p:spPr>
      </p:pic>
      <p:sp>
        <p:nvSpPr>
          <p:cNvPr id="54" name="Text 35"/>
          <p:cNvSpPr txBox="1"/>
          <p:nvPr/>
        </p:nvSpPr>
        <p:spPr>
          <a:xfrm>
            <a:off x="1143000" y="57607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pytest (95 tests) · GitHub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  quality and versioning</a:t>
            </a:r>
            <a:endParaRPr lang="en-US" sz="1300" dirty="0"/>
          </a:p>
        </p:txBody>
      </p:sp>
      <p:sp>
        <p:nvSpPr>
          <p:cNvPr id="55" name="why this stack"/>
          <p:cNvSpPr/>
          <p:nvPr/>
        </p:nvSpPr>
        <p:spPr>
          <a:xfrm>
            <a:off x="5806440" y="3474720"/>
            <a:ext cx="5925312" cy="2788920"/>
          </a:xfrm>
          <a:prstGeom prst="roundRect">
            <a:avLst>
              <a:gd name="adj" fmla="val 4590"/>
            </a:avLst>
          </a:prstGeom>
          <a:solidFill>
            <a:schemeClr val="tx2"/>
          </a:solidFill>
          <a:ln w="9525">
            <a:solidFill>
              <a:srgbClr val="0B2A5B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56" name="Text 37"/>
          <p:cNvSpPr txBox="1"/>
          <p:nvPr/>
        </p:nvSpPr>
        <p:spPr>
          <a:xfrm>
            <a:off x="6035040" y="3584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A5E0"/>
                </a:solidFill>
              </a:rPr>
              <a:t>Why this stack</a:t>
            </a:r>
            <a:endParaRPr lang="en-US" sz="1700" dirty="0"/>
          </a:p>
        </p:txBody>
      </p:sp>
      <p:sp>
        <p:nvSpPr>
          <p:cNvPr id="57" name="Text 38"/>
          <p:cNvSpPr txBox="1"/>
          <p:nvPr/>
        </p:nvSpPr>
        <p:spPr>
          <a:xfrm>
            <a:off x="6035040" y="4005072"/>
            <a:ext cx="5532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FastAPI + Pydantic: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FE3F7"/>
                </a:solidFill>
              </a:rPr>
              <a:t>every tool call is validated against a typed schema before it runs.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Three LLM providers: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FE3F7"/>
                </a:solidFill>
              </a:rPr>
              <a:t>if one hits a quota or outage, the run switches mid-ticket. Ollama works offline.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SQLite: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FE3F7"/>
                </a:solidFill>
              </a:rPr>
              <a:t>zero setup, and every decision, tool call and result is stored for audit.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React + TypeScript: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FE3F7"/>
                </a:solidFill>
              </a:rPr>
              <a:t>a typed UI that shows real backend state, never mock activity.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USP: what makes Resolv different</a:t>
            </a:r>
            <a:endParaRPr lang="en-US" sz="3000" dirty="0"/>
          </a:p>
        </p:txBody>
      </p:sp>
      <p:sp>
        <p:nvSpPr>
          <p:cNvPr id="3" name="brand chip"/>
          <p:cNvSpPr txBox="1"/>
          <p:nvPr/>
        </p:nvSpPr>
        <p:spPr>
          <a:xfrm>
            <a:off x="9646920" y="384048"/>
            <a:ext cx="2084832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CE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710928" y="42976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Resolv robo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1395" y="510235"/>
            <a:ext cx="204826" cy="2048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149840" y="3840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Resolv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AI teammate</a:t>
            </a:r>
            <a:endParaRPr lang="en-US" sz="1300" dirty="0"/>
          </a:p>
        </p:txBody>
      </p:sp>
      <p:sp>
        <p:nvSpPr>
          <p:cNvPr id="7" name="usp 1"/>
          <p:cNvSpPr/>
          <p:nvPr/>
        </p:nvSpPr>
        <p:spPr>
          <a:xfrm>
            <a:off x="457200" y="1188720"/>
            <a:ext cx="2670048" cy="2331720"/>
          </a:xfrm>
          <a:prstGeom prst="roundRect">
            <a:avLst>
              <a:gd name="adj" fmla="val 5490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4173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Acts, not just answ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24" y="1542044"/>
            <a:ext cx="317480" cy="317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210312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Acts, not just answers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67004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Issues the refund, updates the ticket and replies, in one run.</a:t>
            </a:r>
            <a:endParaRPr lang="en-US" sz="1300" dirty="0"/>
          </a:p>
        </p:txBody>
      </p:sp>
      <p:sp>
        <p:nvSpPr>
          <p:cNvPr id="12" name="usp 2"/>
          <p:cNvSpPr/>
          <p:nvPr/>
        </p:nvSpPr>
        <p:spPr>
          <a:xfrm>
            <a:off x="3401568" y="1188720"/>
            <a:ext cx="2670048" cy="2331720"/>
          </a:xfrm>
          <a:prstGeom prst="roundRect">
            <a:avLst>
              <a:gd name="adj" fmla="val 5490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30168" y="14173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2" descr="Policy lives outside the A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892" y="1542044"/>
            <a:ext cx="317480" cy="317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630168" y="210312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Policy lives outside the AI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630168" y="267004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Fixed rules decide refunds; amounts come from the ledger, never the model.</a:t>
            </a:r>
            <a:endParaRPr lang="en-US" sz="1300" dirty="0"/>
          </a:p>
        </p:txBody>
      </p:sp>
      <p:sp>
        <p:nvSpPr>
          <p:cNvPr id="17" name="usp 3"/>
          <p:cNvSpPr/>
          <p:nvPr/>
        </p:nvSpPr>
        <p:spPr>
          <a:xfrm>
            <a:off x="6345936" y="1188720"/>
            <a:ext cx="2670048" cy="2331720"/>
          </a:xfrm>
          <a:prstGeom prst="roundRect">
            <a:avLst>
              <a:gd name="adj" fmla="val 5490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574536" y="14173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3" descr="Verify before claim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260" y="1542044"/>
            <a:ext cx="317480" cy="317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574536" y="210312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Verify before claiming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574536" y="267004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Can't say “refunded” or close a ticket until the ledger confirms it.</a:t>
            </a:r>
            <a:endParaRPr lang="en-US" sz="1300" dirty="0"/>
          </a:p>
        </p:txBody>
      </p:sp>
      <p:sp>
        <p:nvSpPr>
          <p:cNvPr id="22" name="usp 4"/>
          <p:cNvSpPr/>
          <p:nvPr/>
        </p:nvSpPr>
        <p:spPr>
          <a:xfrm>
            <a:off x="457200" y="3794760"/>
            <a:ext cx="2670048" cy="2331720"/>
          </a:xfrm>
          <a:prstGeom prst="roundRect">
            <a:avLst>
              <a:gd name="adj" fmla="val 5490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85800" y="40233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4" descr="Humans where it matt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524" y="4148084"/>
            <a:ext cx="317480" cy="3174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85800" y="470916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Humans where it matters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685800" y="527608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Approval queue shows evidence and policy checks for every handoff.</a:t>
            </a:r>
            <a:endParaRPr lang="en-US" sz="1300" dirty="0"/>
          </a:p>
        </p:txBody>
      </p:sp>
      <p:sp>
        <p:nvSpPr>
          <p:cNvPr id="27" name="usp 5"/>
          <p:cNvSpPr/>
          <p:nvPr/>
        </p:nvSpPr>
        <p:spPr>
          <a:xfrm>
            <a:off x="3401568" y="3794760"/>
            <a:ext cx="2670048" cy="2331720"/>
          </a:xfrm>
          <a:prstGeom prst="roundRect">
            <a:avLst>
              <a:gd name="adj" fmla="val 5490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630168" y="40233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5" descr="Never fakes an answ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4892" y="4148084"/>
            <a:ext cx="317480" cy="31748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630168" y="470916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Never fakes an answer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3630168" y="527608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Gemini → Groq → Ollama failover; if all fail, a human takes over.</a:t>
            </a:r>
            <a:endParaRPr lang="en-US" sz="1300" dirty="0"/>
          </a:p>
        </p:txBody>
      </p:sp>
      <p:sp>
        <p:nvSpPr>
          <p:cNvPr id="32" name="usp 6"/>
          <p:cNvSpPr/>
          <p:nvPr/>
        </p:nvSpPr>
        <p:spPr>
          <a:xfrm>
            <a:off x="6345936" y="3794760"/>
            <a:ext cx="2670048" cy="2331720"/>
          </a:xfrm>
          <a:prstGeom prst="roundRect">
            <a:avLst>
              <a:gd name="adj" fmla="val 5490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6574536" y="40233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mage 6" descr="Audit trail + injection guar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9260" y="4148084"/>
            <a:ext cx="317480" cy="31748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574536" y="470916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Audit trail + injection guard</a:t>
            </a:r>
            <a:endParaRPr lang="en-US" sz="1600" dirty="0"/>
          </a:p>
        </p:txBody>
      </p:sp>
      <p:sp>
        <p:nvSpPr>
          <p:cNvPr id="36" name="Text 27"/>
          <p:cNvSpPr txBox="1"/>
          <p:nvPr/>
        </p:nvSpPr>
        <p:spPr>
          <a:xfrm>
            <a:off x="6574536" y="527608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Every step is logged; “admin mode” tricks are flagged and blocked.</a:t>
            </a:r>
            <a:endParaRPr lang="en-US" sz="1300" dirty="0"/>
          </a:p>
        </p:txBody>
      </p:sp>
      <p:sp>
        <p:nvSpPr>
          <p:cNvPr id="37" name="timeline screenshot frame"/>
          <p:cNvSpPr/>
          <p:nvPr/>
        </p:nvSpPr>
        <p:spPr>
          <a:xfrm>
            <a:off x="9464040" y="1188720"/>
            <a:ext cx="2267712" cy="4937760"/>
          </a:xfrm>
          <a:prstGeom prst="roundRect">
            <a:avLst>
              <a:gd name="adj" fmla="val 5645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pic>
        <p:nvPicPr>
          <p:cNvPr id="38" name="Image 7" descr="Agent execution timeline showing policy checks, verified refund and repl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3768" y="1298448"/>
            <a:ext cx="2048256" cy="4133088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9573768" y="5468112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Real policy checks and ledger proof in the live timeline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benefits</a:t>
            </a:r>
            <a:endParaRPr lang="en-US" sz="3000" dirty="0"/>
          </a:p>
        </p:txBody>
      </p:sp>
      <p:sp>
        <p:nvSpPr>
          <p:cNvPr id="3" name="brand chip"/>
          <p:cNvSpPr txBox="1"/>
          <p:nvPr/>
        </p:nvSpPr>
        <p:spPr>
          <a:xfrm>
            <a:off x="9646920" y="384048"/>
            <a:ext cx="2084832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CE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710928" y="42976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Resolv robo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1395" y="510235"/>
            <a:ext cx="204826" cy="2048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149840" y="3840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Resolv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AI teammate</a:t>
            </a:r>
            <a:endParaRPr lang="en-US" sz="1300" dirty="0"/>
          </a:p>
        </p:txBody>
      </p:sp>
      <p:sp>
        <p:nvSpPr>
          <p:cNvPr id="7" name="stat 8 / 8"/>
          <p:cNvSpPr/>
          <p:nvPr/>
        </p:nvSpPr>
        <p:spPr>
          <a:xfrm>
            <a:off x="457200" y="1188720"/>
            <a:ext cx="2514600" cy="1874520"/>
          </a:xfrm>
          <a:prstGeom prst="roundRect">
            <a:avLst>
              <a:gd name="adj" fmla="val 6829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58368" y="1371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1284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demo scenarios handled correctly</a:t>
            </a:r>
            <a:endParaRPr lang="en-US" sz="1300" dirty="0"/>
          </a:p>
        </p:txBody>
      </p:sp>
      <p:sp>
        <p:nvSpPr>
          <p:cNvPr id="10" name="stat 100%"/>
          <p:cNvSpPr/>
          <p:nvPr/>
        </p:nvSpPr>
        <p:spPr>
          <a:xfrm>
            <a:off x="3154680" y="1188720"/>
            <a:ext cx="2514600" cy="1874520"/>
          </a:xfrm>
          <a:prstGeom prst="roundRect">
            <a:avLst>
              <a:gd name="adj" fmla="val 6829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355848" y="1371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800" dirty="0"/>
          </a:p>
        </p:txBody>
      </p:sp>
      <p:sp>
        <p:nvSpPr>
          <p:cNvPr id="12" name="Text 9"/>
          <p:cNvSpPr txBox="1"/>
          <p:nvPr/>
        </p:nvSpPr>
        <p:spPr>
          <a:xfrm>
            <a:off x="3355848" y="221284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of refunds verified in the ledger before the customer was told</a:t>
            </a:r>
            <a:endParaRPr lang="en-US" sz="1300" dirty="0"/>
          </a:p>
        </p:txBody>
      </p:sp>
      <p:sp>
        <p:nvSpPr>
          <p:cNvPr id="13" name="stat 14–83 s"/>
          <p:cNvSpPr/>
          <p:nvPr/>
        </p:nvSpPr>
        <p:spPr>
          <a:xfrm>
            <a:off x="457200" y="3246120"/>
            <a:ext cx="2514600" cy="1874520"/>
          </a:xfrm>
          <a:prstGeom prst="roundRect">
            <a:avLst>
              <a:gd name="adj" fmla="val 6829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58368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14–83 s</a:t>
            </a:r>
            <a:endParaRPr lang="en-US" sz="38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427024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live LLM run, from complaint to resolved ticket</a:t>
            </a:r>
            <a:endParaRPr lang="en-US" sz="1300" dirty="0"/>
          </a:p>
        </p:txBody>
      </p:sp>
      <p:sp>
        <p:nvSpPr>
          <p:cNvPr id="16" name="stat 95"/>
          <p:cNvSpPr/>
          <p:nvPr/>
        </p:nvSpPr>
        <p:spPr>
          <a:xfrm>
            <a:off x="3154680" y="3246120"/>
            <a:ext cx="2514600" cy="1874520"/>
          </a:xfrm>
          <a:prstGeom prst="roundRect">
            <a:avLst>
              <a:gd name="adj" fmla="val 6829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355848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3800" dirty="0"/>
          </a:p>
        </p:txBody>
      </p:sp>
      <p:sp>
        <p:nvSpPr>
          <p:cNvPr id="18" name="Text 15"/>
          <p:cNvSpPr txBox="1"/>
          <p:nvPr/>
        </p:nvSpPr>
        <p:spPr>
          <a:xfrm>
            <a:off x="3355848" y="427024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automated tests: policy, tools, failover, API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53492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Prototype measurements on synthetic demo data (sandboxed payment rails), not business results.</a:t>
            </a:r>
            <a:endParaRPr lang="en-US" sz="1100" dirty="0"/>
          </a:p>
        </p:txBody>
      </p:sp>
      <p:sp>
        <p:nvSpPr>
          <p:cNvPr id="20" name="benefit Customers"/>
          <p:cNvSpPr/>
          <p:nvPr/>
        </p:nvSpPr>
        <p:spPr>
          <a:xfrm>
            <a:off x="5897880" y="1188720"/>
            <a:ext cx="5833872" cy="1499616"/>
          </a:xfrm>
          <a:prstGeom prst="roundRect">
            <a:avLst>
              <a:gd name="adj" fmla="val 8537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108192" y="14630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1" descr="Custom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916" y="1587764"/>
            <a:ext cx="317480" cy="31748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903720" y="13258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Customers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6903720" y="16916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Money back faster, inside the T+1 window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Clear, honest status updates in the app chat</a:t>
            </a:r>
            <a:endParaRPr lang="en-US" sz="1300" dirty="0"/>
          </a:p>
        </p:txBody>
      </p:sp>
      <p:sp>
        <p:nvSpPr>
          <p:cNvPr id="25" name="benefit Support teams"/>
          <p:cNvSpPr/>
          <p:nvPr/>
        </p:nvSpPr>
        <p:spPr>
          <a:xfrm>
            <a:off x="5897880" y="2852928"/>
            <a:ext cx="5833872" cy="1499616"/>
          </a:xfrm>
          <a:prstGeom prst="roundRect">
            <a:avLst>
              <a:gd name="adj" fmla="val 8537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108192" y="312724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Image 2" descr="Support team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916" y="3251972"/>
            <a:ext cx="317480" cy="31748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903720" y="299008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Support teams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6903720" y="335584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Repetitive lookups and refunds are handled for them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handoff arrives with evidence and policy checks</a:t>
            </a:r>
            <a:endParaRPr lang="en-US" sz="1300" dirty="0"/>
          </a:p>
        </p:txBody>
      </p:sp>
      <p:sp>
        <p:nvSpPr>
          <p:cNvPr id="30" name="benefit The business"/>
          <p:cNvSpPr/>
          <p:nvPr/>
        </p:nvSpPr>
        <p:spPr>
          <a:xfrm>
            <a:off x="5897880" y="4517136"/>
            <a:ext cx="5833872" cy="1499616"/>
          </a:xfrm>
          <a:prstGeom prst="roundRect">
            <a:avLst>
              <a:gd name="adj" fmla="val 8537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108192" y="4791456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2" name="Image 3" descr="The busine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916" y="4916180"/>
            <a:ext cx="317480" cy="31748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03720" y="46542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business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6903720" y="5020056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Avoids ₹100/day delay compensation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Consistent policy, no wrong or duplicate refunds, audit-ready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000" dirty="0"/>
          </a:p>
        </p:txBody>
      </p:sp>
      <p:sp>
        <p:nvSpPr>
          <p:cNvPr id="3" name="brand chip"/>
          <p:cNvSpPr txBox="1"/>
          <p:nvPr/>
        </p:nvSpPr>
        <p:spPr>
          <a:xfrm>
            <a:off x="9646920" y="384048"/>
            <a:ext cx="2084832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CE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710928" y="42976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Resolv robo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1395" y="510235"/>
            <a:ext cx="204826" cy="2048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149840" y="3840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Resolv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AI teammate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15568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0"/>
                </a:solidFill>
              </a:rPr>
              <a:t>B2B SaaS  ·  PROPOSED</a:t>
            </a:r>
            <a:endParaRPr lang="en-US" sz="1100" dirty="0"/>
          </a:p>
        </p:txBody>
      </p:sp>
      <p:sp>
        <p:nvSpPr>
          <p:cNvPr id="8" name="bm Customers"/>
          <p:cNvSpPr/>
          <p:nvPr/>
        </p:nvSpPr>
        <p:spPr>
          <a:xfrm>
            <a:off x="457200" y="1627632"/>
            <a:ext cx="2651760" cy="2880360"/>
          </a:xfrm>
          <a:prstGeom prst="roundRect">
            <a:avLst>
              <a:gd name="adj" fmla="val 4828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" y="182880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Custom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22" y="1941454"/>
            <a:ext cx="286756" cy="2867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98448" y="182880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Customers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58368" y="2496312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UPI apps &amp; payment service providers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Payment aggregators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Banks' digital service desks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High-volume merchants</a:t>
            </a:r>
            <a:endParaRPr lang="en-US" sz="1300" dirty="0"/>
          </a:p>
        </p:txBody>
      </p:sp>
      <p:sp>
        <p:nvSpPr>
          <p:cNvPr id="13" name="bm Value"/>
          <p:cNvSpPr/>
          <p:nvPr/>
        </p:nvSpPr>
        <p:spPr>
          <a:xfrm>
            <a:off x="3331159" y="1627632"/>
            <a:ext cx="2651760" cy="2880360"/>
          </a:xfrm>
          <a:prstGeom prst="roundRect">
            <a:avLst>
              <a:gd name="adj" fmla="val 4828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32327" y="182880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Val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981" y="1941454"/>
            <a:ext cx="286756" cy="2867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172407" y="182880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Value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3532327" y="2496312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Resolves routine payment tickets end to end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Keeps humans for exceptions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Stays inside RBI timelines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Full audit trail</a:t>
            </a:r>
            <a:endParaRPr lang="en-US" sz="1300" dirty="0"/>
          </a:p>
        </p:txBody>
      </p:sp>
      <p:sp>
        <p:nvSpPr>
          <p:cNvPr id="18" name="bm Revenue"/>
          <p:cNvSpPr/>
          <p:nvPr/>
        </p:nvSpPr>
        <p:spPr>
          <a:xfrm>
            <a:off x="6205118" y="1627632"/>
            <a:ext cx="2651760" cy="2880360"/>
          </a:xfrm>
          <a:prstGeom prst="roundRect">
            <a:avLst>
              <a:gd name="adj" fmla="val 4828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6286" y="1828800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3" descr="Revenu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940" y="1941454"/>
            <a:ext cx="286756" cy="2867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46366" y="182880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Revenue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406286" y="2496312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Platform fee per support queue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Outcome fee per verified, auto-resolved ticket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Enterprise tier: on-prem / local LLM, custom policies, SLA</a:t>
            </a:r>
            <a:endParaRPr lang="en-US" sz="1300" dirty="0"/>
          </a:p>
        </p:txBody>
      </p:sp>
      <p:sp>
        <p:nvSpPr>
          <p:cNvPr id="23" name="bm Costs"/>
          <p:cNvSpPr/>
          <p:nvPr/>
        </p:nvSpPr>
        <p:spPr>
          <a:xfrm>
            <a:off x="9079078" y="1627632"/>
            <a:ext cx="2651760" cy="2880360"/>
          </a:xfrm>
          <a:prstGeom prst="roundRect">
            <a:avLst>
              <a:gd name="adj" fmla="val 4828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280246" y="182880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Cost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2900" y="1941454"/>
            <a:ext cx="286756" cy="2867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920326" y="182880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Costs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9280246" y="2496312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LLM usage: low, with free-tier and local models in the failover chain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Hosting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Integration with switch and refund APIs</a:t>
            </a:r>
            <a:endParaRPr lang="en-US" sz="1300" dirty="0"/>
          </a:p>
        </p:txBody>
      </p:sp>
      <p:sp>
        <p:nvSpPr>
          <p:cNvPr id="28" name="go to market"/>
          <p:cNvSpPr/>
          <p:nvPr/>
        </p:nvSpPr>
        <p:spPr>
          <a:xfrm>
            <a:off x="457200" y="4645152"/>
            <a:ext cx="11274552" cy="1371600"/>
          </a:xfrm>
          <a:prstGeom prst="roundRect">
            <a:avLst>
              <a:gd name="adj" fmla="val 9333"/>
            </a:avLst>
          </a:prstGeom>
          <a:solidFill>
            <a:schemeClr val="tx2"/>
          </a:solidFill>
          <a:ln w="9525">
            <a:solidFill>
              <a:srgbClr val="0B2A5B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29" name="Text 22"/>
          <p:cNvSpPr txBox="1"/>
          <p:nvPr/>
        </p:nvSpPr>
        <p:spPr>
          <a:xfrm>
            <a:off x="685800" y="4736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A5E0"/>
                </a:solidFill>
              </a:rPr>
              <a:t>GO-TO-MARKET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685800" y="5175504"/>
            <a:ext cx="502920" cy="502920"/>
          </a:xfrm>
          <a:prstGeom prst="ellipse">
            <a:avLst/>
          </a:prstGeom>
          <a:solidFill>
            <a:srgbClr val="0EA5E0"/>
          </a:solidFill>
          <a:ln>
            <a:solidFill>
              <a:srgbClr val="0EA5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1325880" y="5084064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Pilot  </a:t>
            </a:r>
            <a:pPr indent="0" marL="0">
              <a:buNone/>
            </a:pPr>
            <a:r>
              <a:rPr lang="en-US" sz="1400" dirty="0">
                <a:solidFill>
                  <a:srgbClr val="CFE3F7"/>
                </a:solidFill>
              </a:rPr>
              <a:t>One support queue: failed UPI debits</a:t>
            </a:r>
            <a:endParaRPr lang="en-US" sz="1400" dirty="0"/>
          </a:p>
        </p:txBody>
      </p:sp>
      <p:pic>
        <p:nvPicPr>
          <p:cNvPr id="32" name="Image 5" descr="arro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368" y="5276088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389120" y="5175504"/>
            <a:ext cx="502920" cy="502920"/>
          </a:xfrm>
          <a:prstGeom prst="ellipse">
            <a:avLst/>
          </a:prstGeom>
          <a:solidFill>
            <a:srgbClr val="0EA5E0"/>
          </a:solidFill>
          <a:ln>
            <a:solidFill>
              <a:srgbClr val="0EA5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5029200" y="5084064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Expand  </a:t>
            </a:r>
            <a:pPr indent="0" marL="0">
              <a:buNone/>
            </a:pPr>
            <a:r>
              <a:rPr lang="en-US" sz="1400" dirty="0">
                <a:solidFill>
                  <a:srgbClr val="CFE3F7"/>
                </a:solidFill>
              </a:rPr>
              <a:t>Wallet, merchant settlement, KYC tickets</a:t>
            </a:r>
            <a:endParaRPr lang="en-US" sz="1400" dirty="0"/>
          </a:p>
        </p:txBody>
      </p:sp>
      <p:pic>
        <p:nvPicPr>
          <p:cNvPr id="35" name="Image 6" descr="arro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8" y="5276088"/>
            <a:ext cx="292608" cy="29260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8092440" y="5175504"/>
            <a:ext cx="502920" cy="502920"/>
          </a:xfrm>
          <a:prstGeom prst="ellipse">
            <a:avLst/>
          </a:prstGeom>
          <a:solidFill>
            <a:srgbClr val="0EA5E0"/>
          </a:solidFill>
          <a:ln>
            <a:solidFill>
              <a:srgbClr val="0EA5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8732520" y="5084064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Scale  </a:t>
            </a:r>
            <a:pPr indent="0" marL="0">
              <a:buNone/>
            </a:pPr>
            <a:r>
              <a:rPr lang="en-US" sz="1400" dirty="0">
                <a:solidFill>
                  <a:srgbClr val="CFE3F7"/>
                </a:solidFill>
              </a:rPr>
              <a:t>Offer to other PSPs, banks and merchants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457200" y="60899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Outcome-based pricing: customers pay most when tickets are actually resolved, matching the brief's “measurable outcomes”.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references</a:t>
            </a:r>
            <a:endParaRPr lang="en-US" sz="3000" dirty="0"/>
          </a:p>
        </p:txBody>
      </p:sp>
      <p:sp>
        <p:nvSpPr>
          <p:cNvPr id="3" name="brand chip"/>
          <p:cNvSpPr txBox="1"/>
          <p:nvPr/>
        </p:nvSpPr>
        <p:spPr>
          <a:xfrm>
            <a:off x="9646920" y="384048"/>
            <a:ext cx="2084832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CE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710928" y="42976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Resolv robo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1395" y="510235"/>
            <a:ext cx="204826" cy="2048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149840" y="3840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Resolv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AI teammate</a:t>
            </a:r>
            <a:endParaRPr lang="en-US" sz="1300" dirty="0"/>
          </a:p>
        </p:txBody>
      </p:sp>
      <p:sp>
        <p:nvSpPr>
          <p:cNvPr id="7" name="future Real integrations"/>
          <p:cNvSpPr/>
          <p:nvPr/>
        </p:nvSpPr>
        <p:spPr>
          <a:xfrm>
            <a:off x="457200" y="1188720"/>
            <a:ext cx="2103120" cy="251460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141732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Real integr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45" y="1533997"/>
            <a:ext cx="296997" cy="29699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8368" y="210312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Real integrations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58368" y="270662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Bank / PSP sandbox APIs for switch status and refunds</a:t>
            </a:r>
            <a:endParaRPr lang="en-US" sz="1300" dirty="0"/>
          </a:p>
        </p:txBody>
      </p:sp>
      <p:sp>
        <p:nvSpPr>
          <p:cNvPr id="12" name="future Multilingual &amp; voice"/>
          <p:cNvSpPr/>
          <p:nvPr/>
        </p:nvSpPr>
        <p:spPr>
          <a:xfrm>
            <a:off x="2750515" y="1188720"/>
            <a:ext cx="2103120" cy="251460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951683" y="141732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2" descr="Multilingual &amp; voi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361" y="1533997"/>
            <a:ext cx="296997" cy="29699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51683" y="210312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Multilingual &amp; voice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2951683" y="270662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Hindi and regional languages, voice notes</a:t>
            </a:r>
            <a:endParaRPr lang="en-US" sz="1300" dirty="0"/>
          </a:p>
        </p:txBody>
      </p:sp>
      <p:sp>
        <p:nvSpPr>
          <p:cNvPr id="17" name="future Compensation automation"/>
          <p:cNvSpPr/>
          <p:nvPr/>
        </p:nvSpPr>
        <p:spPr>
          <a:xfrm>
            <a:off x="5043830" y="1188720"/>
            <a:ext cx="2103120" cy="251460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244998" y="141732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3" descr="Compensation autom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1676" y="1533997"/>
            <a:ext cx="296997" cy="29699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244998" y="210312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Compensation automation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5244998" y="270662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Auto-credit ₹100/day when T+1 is missed</a:t>
            </a:r>
            <a:endParaRPr lang="en-US" sz="1300" dirty="0"/>
          </a:p>
        </p:txBody>
      </p:sp>
      <p:sp>
        <p:nvSpPr>
          <p:cNvPr id="22" name="future Roles &amp; security"/>
          <p:cNvSpPr/>
          <p:nvPr/>
        </p:nvSpPr>
        <p:spPr>
          <a:xfrm>
            <a:off x="7337146" y="1188720"/>
            <a:ext cx="2103120" cy="251460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538314" y="141732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4" descr="Roles &amp; securit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4991" y="1533997"/>
            <a:ext cx="296997" cy="29699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538314" y="210312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Roles &amp; security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538314" y="270662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Login, approval roles, per-team policies</a:t>
            </a:r>
            <a:endParaRPr lang="en-US" sz="1300" dirty="0"/>
          </a:p>
        </p:txBody>
      </p:sp>
      <p:sp>
        <p:nvSpPr>
          <p:cNvPr id="27" name="future Measured pilot"/>
          <p:cNvSpPr/>
          <p:nvPr/>
        </p:nvSpPr>
        <p:spPr>
          <a:xfrm>
            <a:off x="9630461" y="1188720"/>
            <a:ext cx="2103120" cy="251460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9831629" y="141732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5" descr="Measured pilo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8306" y="1533997"/>
            <a:ext cx="296997" cy="29699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831629" y="210312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Measured pilot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9831629" y="270662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Resolution time vs today's baseline, A/B tested</a:t>
            </a:r>
            <a:endParaRPr lang="en-US" sz="1300" dirty="0"/>
          </a:p>
        </p:txBody>
      </p:sp>
      <p:sp>
        <p:nvSpPr>
          <p:cNvPr id="32" name="references"/>
          <p:cNvSpPr/>
          <p:nvPr/>
        </p:nvSpPr>
        <p:spPr>
          <a:xfrm>
            <a:off x="457200" y="3977640"/>
            <a:ext cx="7223760" cy="2286000"/>
          </a:xfrm>
          <a:prstGeom prst="roundRect">
            <a:avLst>
              <a:gd name="adj" fmla="val 5600"/>
            </a:avLst>
          </a:prstGeom>
          <a:solidFill>
            <a:schemeClr val="bg1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33" name="Text 25"/>
          <p:cNvSpPr txBox="1"/>
          <p:nvPr/>
        </p:nvSpPr>
        <p:spPr>
          <a:xfrm>
            <a:off x="685800" y="4096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References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685800" y="4526280"/>
            <a:ext cx="6812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u="sng" dirty="0">
                <a:solidFill>
                  <a:schemeClr val="accent4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RBI: TAT &amp; compensation for failed transactions (2019)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u="sng" dirty="0">
                <a:solidFill>
                  <a:schemeClr val="accent4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ReAct: reasoning + acting in language models (Yao et al.)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u="sng" dirty="0">
                <a:solidFill>
                  <a:schemeClr val="accent4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Gemini API: function calling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u="sng" dirty="0">
                <a:solidFill>
                  <a:schemeClr val="accent4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Groq API documentation</a:t>
            </a:r>
            <a:endParaRPr lang="en-US" sz="1300" dirty="0"/>
          </a:p>
        </p:txBody>
      </p:sp>
      <p:sp>
        <p:nvSpPr>
          <p:cNvPr id="35" name="links"/>
          <p:cNvSpPr/>
          <p:nvPr/>
        </p:nvSpPr>
        <p:spPr>
          <a:xfrm>
            <a:off x="7909560" y="3977640"/>
            <a:ext cx="3822192" cy="2286000"/>
          </a:xfrm>
          <a:prstGeom prst="roundRect">
            <a:avLst>
              <a:gd name="adj" fmla="val 5600"/>
            </a:avLst>
          </a:prstGeom>
          <a:solidFill>
            <a:schemeClr val="tx2"/>
          </a:solidFill>
          <a:ln w="9525">
            <a:solidFill>
              <a:srgbClr val="0B2A5B"/>
            </a:solidFill>
            <a:prstDash val="solid"/>
          </a:ln>
          <a:effectLst>
            <a:outerShdw sx="100000" sy="100000" kx="0" ky="0" algn="bl" rotWithShape="0" blurRad="114300" dist="25400" dir="5400000">
              <a:srgbClr val="0B2A5B">
                <a:alpha val="12000"/>
              </a:srgbClr>
            </a:outerShdw>
          </a:effectLst>
        </p:spPr>
      </p:sp>
      <p:sp>
        <p:nvSpPr>
          <p:cNvPr id="36" name="Text 28"/>
          <p:cNvSpPr txBox="1"/>
          <p:nvPr/>
        </p:nvSpPr>
        <p:spPr>
          <a:xfrm>
            <a:off x="8138160" y="4096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A5E0"/>
                </a:solidFill>
              </a:rPr>
              <a:t>Links</a:t>
            </a:r>
            <a:endParaRPr lang="en-US" sz="1700" dirty="0"/>
          </a:p>
        </p:txBody>
      </p:sp>
      <p:sp>
        <p:nvSpPr>
          <p:cNvPr id="37" name="Shape 29"/>
          <p:cNvSpPr/>
          <p:nvPr/>
        </p:nvSpPr>
        <p:spPr>
          <a:xfrm>
            <a:off x="8138160" y="4617720"/>
            <a:ext cx="457200" cy="457200"/>
          </a:xfrm>
          <a:prstGeom prst="ellipse">
            <a:avLst/>
          </a:prstGeom>
          <a:solidFill>
            <a:srgbClr val="12366F"/>
          </a:solidFill>
          <a:ln w="12700">
            <a:solidFill>
              <a:srgbClr val="12366F"/>
            </a:solidFill>
            <a:prstDash val="solid"/>
          </a:ln>
        </p:spPr>
      </p:sp>
      <p:pic>
        <p:nvPicPr>
          <p:cNvPr id="38" name="Image 6" descr="GitHub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8744" y="4718304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732520" y="4553712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chemeClr val="bg1"/>
                </a:solidFill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B6D3"/>
                </a:solidFill>
              </a:rPr>
              <a:t>Paras131206/PAYTM_hackathon_2026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8138160" y="5349240"/>
            <a:ext cx="457200" cy="457200"/>
          </a:xfrm>
          <a:prstGeom prst="ellipse">
            <a:avLst/>
          </a:prstGeom>
          <a:solidFill>
            <a:srgbClr val="12366F"/>
          </a:solidFill>
          <a:ln w="12700">
            <a:solidFill>
              <a:srgbClr val="12366F"/>
            </a:solidFill>
            <a:prstDash val="solid"/>
          </a:ln>
        </p:spPr>
      </p:sp>
      <p:pic>
        <p:nvPicPr>
          <p:cNvPr id="41" name="Image 7" descr="Demo video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38744" y="5449824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8732520" y="5285232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Demo video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B6D3"/>
                </a:solidFill>
              </a:rPr>
              <a:t>[add link]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olv">
  <a:themeElements>
    <a:clrScheme name="Resolv">
      <a:dk1>
        <a:srgbClr val="0F172A"/>
      </a:dk1>
      <a:lt1>
        <a:srgbClr val="FFFFFF"/>
      </a:lt1>
      <a:dk2>
        <a:srgbClr val="0B2A5B"/>
      </a:dk2>
      <a:lt2>
        <a:srgbClr val="F3F6FB"/>
      </a:lt2>
      <a:accent1>
        <a:srgbClr val="0EA5E0"/>
      </a:accent1>
      <a:accent2>
        <a:srgbClr val="16A34A"/>
      </a:accent2>
      <a:accent3>
        <a:srgbClr val="D97706"/>
      </a:accent3>
      <a:accent4>
        <a:srgbClr val="1E3A8A"/>
      </a:accent4>
      <a:accent5>
        <a:srgbClr val="E11D48"/>
      </a:accent5>
      <a:accent6>
        <a:srgbClr val="64748B"/>
      </a:accent6>
      <a:hlink>
        <a:srgbClr val="0EA5E0"/>
      </a:hlink>
      <a:folHlink>
        <a:srgbClr val="1E3A8A"/>
      </a:folHlink>
    </a:clrScheme>
    <a:fontScheme name="Resolv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Resolv: AI support teammate for failed UPI payments</dc:title>
  <dc:subject>Paytm Hackathon 2026, Track 3: Autonomous AI Teammates</dc:subject>
  <dc:creator>Team 4-Goats</dc:creator>
  <cp:lastModifiedBy>Team 4-Goats</cp:lastModifiedBy>
  <cp:revision>1</cp:revision>
  <dcterms:created xsi:type="dcterms:W3CDTF">2026-10-26T13:48:39Z</dcterms:created>
  <dcterms:modified xsi:type="dcterms:W3CDTF">2026-10-26T13:48:39Z</dcterms:modified>
</cp:coreProperties>
</file>